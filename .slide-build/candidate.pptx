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a97a200e884afd" /><Relationship Type="http://schemas.openxmlformats.org/officeDocument/2006/relationships/extended-properties" Target="/docProps/app.xml" Id="Rdb78ac8011f247ad" /><Relationship Type="http://schemas.openxmlformats.org/officeDocument/2006/relationships/officeDocument" Target="/ppt/presentation.xml" Id="R5e13384881244578" /></Relationships>
</file>

<file path=ppt/presentation.xml><?xml version="1.0" encoding="utf-8"?>
<p:presentation xmlns:p="http://schemas.openxmlformats.org/presentationml/2006/main">
  <p:sldMasterIdLst>
    <p:sldMasterId xmlns:r="http://schemas.openxmlformats.org/officeDocument/2006/relationships" id="2147483648" r:id="Ra99a0807e92c4b35"/>
  </p:sldMasterIdLst>
  <p:notesMasterIdLst>
    <p:notesMasterId xmlns:r="http://schemas.openxmlformats.org/officeDocument/2006/relationships" r:id="R568597c4e66246aa"/>
  </p:notesMasterIdLst>
  <p:sldIdLst>
    <p:sldId xmlns:r="http://schemas.openxmlformats.org/officeDocument/2006/relationships" id="256" r:id="R542908e1165b4646"/>
    <p:sldId xmlns:r="http://schemas.openxmlformats.org/officeDocument/2006/relationships" id="257" r:id="Ra8d34291b41342de"/>
    <p:sldId xmlns:r="http://schemas.openxmlformats.org/officeDocument/2006/relationships" id="258" r:id="R7cd7ff1c877141ac"/>
    <p:sldId xmlns:r="http://schemas.openxmlformats.org/officeDocument/2006/relationships" id="259" r:id="Rb8d432d3095b487b"/>
    <p:sldId xmlns:r="http://schemas.openxmlformats.org/officeDocument/2006/relationships" id="260" r:id="R3aac1af31a8a43c5"/>
    <p:sldId xmlns:r="http://schemas.openxmlformats.org/officeDocument/2006/relationships" id="261" r:id="R870d9ca25dbc4d9e"/>
    <p:sldId xmlns:r="http://schemas.openxmlformats.org/officeDocument/2006/relationships" id="262" r:id="Rd38b690cea564071"/>
    <p:sldId xmlns:r="http://schemas.openxmlformats.org/officeDocument/2006/relationships" id="263" r:id="Reb1577ddb6ef44aa"/>
    <p:sldId xmlns:r="http://schemas.openxmlformats.org/officeDocument/2006/relationships" id="264" r:id="Rc602f5e09a8d487e"/>
    <p:sldId xmlns:r="http://schemas.openxmlformats.org/officeDocument/2006/relationships" id="265" r:id="R4f22a8fd212b4c5e"/>
    <p:sldId xmlns:r="http://schemas.openxmlformats.org/officeDocument/2006/relationships" id="266" r:id="R481620ab651a4549"/>
    <p:sldId xmlns:r="http://schemas.openxmlformats.org/officeDocument/2006/relationships" id="267" r:id="R978fbf143674416d"/>
    <p:sldId xmlns:r="http://schemas.openxmlformats.org/officeDocument/2006/relationships" id="268" r:id="R71e67ed957984d82"/>
    <p:sldId xmlns:r="http://schemas.openxmlformats.org/officeDocument/2006/relationships" id="269" r:id="Ra0919895fbdd4c75"/>
    <p:sldId xmlns:r="http://schemas.openxmlformats.org/officeDocument/2006/relationships" id="270" r:id="R51a84d3b9da04af0"/>
    <p:sldId xmlns:r="http://schemas.openxmlformats.org/officeDocument/2006/relationships" id="271" r:id="Rf193b71dce0a46f1"/>
    <p:sldId xmlns:r="http://schemas.openxmlformats.org/officeDocument/2006/relationships" id="272" r:id="R5f56de5575544187"/>
    <p:sldId xmlns:r="http://schemas.openxmlformats.org/officeDocument/2006/relationships" id="273" r:id="R1ab342929a044df1"/>
    <p:sldId xmlns:r="http://schemas.openxmlformats.org/officeDocument/2006/relationships" id="274" r:id="Ra39eb1efeeee448d"/>
    <p:sldId xmlns:r="http://schemas.openxmlformats.org/officeDocument/2006/relationships" id="275" r:id="R2526c727ebd34a21"/>
    <p:sldId xmlns:r="http://schemas.openxmlformats.org/officeDocument/2006/relationships" id="276" r:id="Re78577d3ae1e4fbb"/>
    <p:sldId xmlns:r="http://schemas.openxmlformats.org/officeDocument/2006/relationships" id="277" r:id="R10109ff299e54182"/>
    <p:sldId xmlns:r="http://schemas.openxmlformats.org/officeDocument/2006/relationships" id="278" r:id="R9de703f034774f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a6e2e13c1b4c67" /><Relationship Type="http://schemas.openxmlformats.org/officeDocument/2006/relationships/slideMaster" Target="/ppt/slideMasters/slideMaster1.xml" Id="Ra99a0807e92c4b35" /><Relationship Type="http://schemas.openxmlformats.org/officeDocument/2006/relationships/notesMaster" Target="/ppt/notesMasters/notesMaster1.xml" Id="R568597c4e66246aa" /><Relationship Type="http://schemas.openxmlformats.org/officeDocument/2006/relationships/presProps" Target="/ppt/presProps.xml" Id="R4088ec4b694e43eb" /><Relationship Type="http://schemas.openxmlformats.org/officeDocument/2006/relationships/tableStyles" Target="/ppt/tableStyles.xml" Id="Ra7301a1bf79e4d33" /><Relationship Type="http://schemas.openxmlformats.org/officeDocument/2006/relationships/slide" Target="/ppt/slides/slide1.xml" Id="R542908e1165b4646" /><Relationship Type="http://schemas.openxmlformats.org/officeDocument/2006/relationships/slide" Target="/ppt/slides/slide2.xml" Id="Ra8d34291b41342de" /><Relationship Type="http://schemas.openxmlformats.org/officeDocument/2006/relationships/slide" Target="/ppt/slides/slide3.xml" Id="R7cd7ff1c877141ac" /><Relationship Type="http://schemas.openxmlformats.org/officeDocument/2006/relationships/slide" Target="/ppt/slides/slide4.xml" Id="Rb8d432d3095b487b" /><Relationship Type="http://schemas.openxmlformats.org/officeDocument/2006/relationships/slide" Target="/ppt/slides/slide5.xml" Id="R3aac1af31a8a43c5" /><Relationship Type="http://schemas.openxmlformats.org/officeDocument/2006/relationships/slide" Target="/ppt/slides/slide6.xml" Id="R870d9ca25dbc4d9e" /><Relationship Type="http://schemas.openxmlformats.org/officeDocument/2006/relationships/slide" Target="/ppt/slides/slide7.xml" Id="Rd38b690cea564071" /><Relationship Type="http://schemas.openxmlformats.org/officeDocument/2006/relationships/slide" Target="/ppt/slides/slide8.xml" Id="Reb1577ddb6ef44aa" /><Relationship Type="http://schemas.openxmlformats.org/officeDocument/2006/relationships/slide" Target="/ppt/slides/slide9.xml" Id="Rc602f5e09a8d487e" /><Relationship Type="http://schemas.openxmlformats.org/officeDocument/2006/relationships/slide" Target="/ppt/slides/slide10.xml" Id="R4f22a8fd212b4c5e" /><Relationship Type="http://schemas.openxmlformats.org/officeDocument/2006/relationships/slide" Target="/ppt/slides/slide11.xml" Id="R481620ab651a4549" /><Relationship Type="http://schemas.openxmlformats.org/officeDocument/2006/relationships/slide" Target="/ppt/slides/slide12.xml" Id="R978fbf143674416d" /><Relationship Type="http://schemas.openxmlformats.org/officeDocument/2006/relationships/slide" Target="/ppt/slides/slide13.xml" Id="R71e67ed957984d82" /><Relationship Type="http://schemas.openxmlformats.org/officeDocument/2006/relationships/slide" Target="/ppt/slides/slide14.xml" Id="Ra0919895fbdd4c75" /><Relationship Type="http://schemas.openxmlformats.org/officeDocument/2006/relationships/slide" Target="/ppt/slides/slide15.xml" Id="R51a84d3b9da04af0" /><Relationship Type="http://schemas.openxmlformats.org/officeDocument/2006/relationships/slide" Target="/ppt/slides/slide16.xml" Id="Rf193b71dce0a46f1" /><Relationship Type="http://schemas.openxmlformats.org/officeDocument/2006/relationships/slide" Target="/ppt/slides/slide17.xml" Id="R5f56de5575544187" /><Relationship Type="http://schemas.openxmlformats.org/officeDocument/2006/relationships/slide" Target="/ppt/slides/slide18.xml" Id="R1ab342929a044df1" /><Relationship Type="http://schemas.openxmlformats.org/officeDocument/2006/relationships/slide" Target="/ppt/slides/slide19.xml" Id="Ra39eb1efeeee448d" /><Relationship Type="http://schemas.openxmlformats.org/officeDocument/2006/relationships/slide" Target="/ppt/slides/slide20.xml" Id="R2526c727ebd34a21" /><Relationship Type="http://schemas.openxmlformats.org/officeDocument/2006/relationships/slide" Target="/ppt/slides/slide21.xml" Id="Re78577d3ae1e4fbb" /><Relationship Type="http://schemas.openxmlformats.org/officeDocument/2006/relationships/slide" Target="/ppt/slides/slide22.xml" Id="R10109ff299e54182" /><Relationship Type="http://schemas.openxmlformats.org/officeDocument/2006/relationships/slide" Target="/ppt/slides/slide23.xml" Id="R9de703f034774f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6042bc758b4d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c014279699477f" /><Relationship Type="http://schemas.openxmlformats.org/officeDocument/2006/relationships/notesMaster" Target="/ppt/notesMasters/notesMaster1.xml" Id="R45d7b21a3bad4f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8b18054c204b0f" /><Relationship Type="http://schemas.openxmlformats.org/officeDocument/2006/relationships/notesMaster" Target="/ppt/notesMasters/notesMaster1.xml" Id="R0866a41bf38d4c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83339b9e5b4ab2" /><Relationship Type="http://schemas.openxmlformats.org/officeDocument/2006/relationships/notesMaster" Target="/ppt/notesMasters/notesMaster1.xml" Id="Rec35c545fa094c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5ef3377f5a40c9" /><Relationship Type="http://schemas.openxmlformats.org/officeDocument/2006/relationships/notesMaster" Target="/ppt/notesMasters/notesMaster1.xml" Id="Rb94a9e5471874a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36b24b84fc446f" /><Relationship Type="http://schemas.openxmlformats.org/officeDocument/2006/relationships/notesMaster" Target="/ppt/notesMasters/notesMaster1.xml" Id="R3753f441f1734a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b68655ea3641fc" /><Relationship Type="http://schemas.openxmlformats.org/officeDocument/2006/relationships/notesMaster" Target="/ppt/notesMasters/notesMaster1.xml" Id="R6aa34bec62b34f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f7fcc14b9e487e" /><Relationship Type="http://schemas.openxmlformats.org/officeDocument/2006/relationships/notesMaster" Target="/ppt/notesMasters/notesMaster1.xml" Id="R21e5e2ed44b34d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131d7f61f84cad" /><Relationship Type="http://schemas.openxmlformats.org/officeDocument/2006/relationships/notesMaster" Target="/ppt/notesMasters/notesMaster1.xml" Id="R2519e79269d549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a12702efdd425f" /><Relationship Type="http://schemas.openxmlformats.org/officeDocument/2006/relationships/notesMaster" Target="/ppt/notesMasters/notesMaster1.xml" Id="R5818fd58b5534a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195439361b42be" /><Relationship Type="http://schemas.openxmlformats.org/officeDocument/2006/relationships/notesMaster" Target="/ppt/notesMasters/notesMaster1.xml" Id="R71a80012fde540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663377b99d4043" /><Relationship Type="http://schemas.openxmlformats.org/officeDocument/2006/relationships/notesMaster" Target="/ppt/notesMasters/notesMaster1.xml" Id="R20b049c60f8b45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15940d096d4712" /><Relationship Type="http://schemas.openxmlformats.org/officeDocument/2006/relationships/notesMaster" Target="/ppt/notesMasters/notesMaster1.xml" Id="Rb08846aec8194d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f57a5b14be4702" /><Relationship Type="http://schemas.openxmlformats.org/officeDocument/2006/relationships/notesMaster" Target="/ppt/notesMasters/notesMaster1.xml" Id="R2e3cacac7c7848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1ecdc95fb648de" /><Relationship Type="http://schemas.openxmlformats.org/officeDocument/2006/relationships/notesMaster" Target="/ppt/notesMasters/notesMaster1.xml" Id="R3f3033a37c074f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0f51f3005f46e5" /><Relationship Type="http://schemas.openxmlformats.org/officeDocument/2006/relationships/notesMaster" Target="/ppt/notesMasters/notesMaster1.xml" Id="R647c563db3c849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513ec959064790" /><Relationship Type="http://schemas.openxmlformats.org/officeDocument/2006/relationships/notesMaster" Target="/ppt/notesMasters/notesMaster1.xml" Id="R5e1eb32b23f846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aa81fd102143b9" /><Relationship Type="http://schemas.openxmlformats.org/officeDocument/2006/relationships/notesMaster" Target="/ppt/notesMasters/notesMaster1.xml" Id="Rde5db4e27aea4e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a3249cc1704c08" /><Relationship Type="http://schemas.openxmlformats.org/officeDocument/2006/relationships/notesMaster" Target="/ppt/notesMasters/notesMaster1.xml" Id="Re962323e6c0347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4765887f5c40ba" /><Relationship Type="http://schemas.openxmlformats.org/officeDocument/2006/relationships/notesMaster" Target="/ppt/notesMasters/notesMaster1.xml" Id="R6b1a7f4edc074b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d3387777504e26" /><Relationship Type="http://schemas.openxmlformats.org/officeDocument/2006/relationships/notesMaster" Target="/ppt/notesMasters/notesMaster1.xml" Id="R219e35871a4d41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eec2ffce20b4ad6" /><Relationship Type="http://schemas.openxmlformats.org/officeDocument/2006/relationships/notesMaster" Target="/ppt/notesMasters/notesMaster1.xml" Id="Rbd5218e6fa484d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18843a4c58415f" /><Relationship Type="http://schemas.openxmlformats.org/officeDocument/2006/relationships/notesMaster" Target="/ppt/notesMasters/notesMaster1.xml" Id="R9edcf2c1c51044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12ffeabe5148cb" /><Relationship Type="http://schemas.openxmlformats.org/officeDocument/2006/relationships/notesMaster" Target="/ppt/notesMasters/notesMaster1.xml" Id="R99100eb282c946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Target duration: 30 seconds.</a:t>
            </a:r>
          </a:p>
          <a:p xmlns:a="http://schemas.openxmlformats.org/drawingml/2006/main">
            <a:r>
              <a:t/>
            </a:r>
          </a:p>
          <a:p xmlns:a="http://schemas.openxmlformats.org/drawingml/2006/main">
            <a:r>
              <a:t>Introduce the central question: can we reduce the work of committing to records without increasing the authentication proof? The writeup places an existing eight-input extension of T5 at the leaves of an ordinary Merkle tree. We will first establish the construction and binding argument, then examine what survives when the abstract compression interface meets real SHA-256, BLAKE3, and Keccak implementations.</a:t>
            </a:r>
          </a:p>
          <a:p xmlns:a="http://schemas.openxmlformats.org/drawingml/2006/main">
            <a:r>
              <a:t/>
            </a:r>
          </a:p>
          <a:p xmlns:a="http://schemas.openxmlformats.org/drawingml/2006/main">
            <a:r>
              <a:t>Source: t5-trees.tex, Title and abstract.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0:30–1:30. Target duration: 60 seconds.</a:t>
            </a:r>
          </a:p>
          <a:p xmlns:a="http://schemas.openxmlformats.org/drawingml/2006/main">
            <a:r>
              <a:t/>
            </a:r>
          </a:p>
          <a:p xmlns:a="http://schemas.openxmlformats.org/drawingml/2006/main">
            <a:r>
              <a:t>A Merkle commitment performs two different computations. First, each complete record becomes one digest. Second, the binary tree combines those digests into a root. A verifier recomputes one record digest and the ancestors on its path. This separation gives a local place to optimize. The tree topology, sibling paths, and record access pattern can stay fixed while the record hash changes. The result is most significant when commitment hashes many records. Single-record verification still pays for its entire path.</a:t>
            </a:r>
          </a:p>
          <a:p xmlns:a="http://schemas.openxmlformats.org/drawingml/2006/main">
            <a:r>
              <a:t/>
            </a:r>
          </a:p>
          <a:p xmlns:a="http://schemas.openxmlformats.org/drawingml/2006/main">
            <a:r>
              <a:t>Source: t5-trees.tex, The idea.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1:30–2:30. Target duration: 60 seconds.</a:t>
            </a:r>
          </a:p>
          <a:p xmlns:a="http://schemas.openxmlformats.org/drawingml/2006/main">
            <a:r>
              <a:t/>
            </a:r>
          </a:p>
          <a:p xmlns:a="http://schemas.openxmlformats.org/drawingml/2006/main">
            <a:r>
              <a:t>Fix N equal to 2 to the d and a digest size n. Position i contains eight n-bit blocks. An opening supplies all eight blocks and d sibling digests. The complete record matters for both the comparison and the security argument. We are comparing two ways to hash the same record, rather than a tree with eight times as many leaves and one-word openings. Record length, block order, N, and hash-suite identifier are part of the fixed public context. A system with multiple formats must authenticate that context. Eight hash-sized blocks also need not mean eight field elements.</a:t>
            </a:r>
          </a:p>
          <a:p xmlns:a="http://schemas.openxmlformats.org/drawingml/2006/main">
            <a:r>
              <a:t/>
            </a:r>
          </a:p>
          <a:p xmlns:a="http://schemas.openxmlformats.org/drawingml/2006/main">
            <a:r>
              <a:t>Source: t5-trees.tex, Records and hash interfaces.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2:30–4:15. Target duration: 105 seconds.</a:t>
            </a:r>
          </a:p>
          <a:p xmlns:a="http://schemas.openxmlformats.org/drawingml/2006/main">
            <a:r>
              <a:t/>
            </a:r>
          </a:p>
          <a:p xmlns:a="http://schemas.openxmlformats.org/drawingml/2006/main">
            <a:r>
              <a:t>Walk through the equations slowly. Two independent calls hash blocks one through three and four through six. The seventh block masks both intermediate values and feeds forward after the last call. The eighth block enters the third input of the final call. There are exactly three calls to a 3n-to-n compressor and three n-bit XORs. The first two calls can run concurrently, so the compression depth is two. The h roles represent independently domain-separated interfaces in the ideal analysis. Using one untagged function would not implement that model. This is the eight-input extension of T5 from Dodis, Khovratovich, Mouha, and Nandi, Section 6.</a:t>
            </a:r>
          </a:p>
          <a:p xmlns:a="http://schemas.openxmlformats.org/drawingml/2006/main">
            <a:r>
              <a:t/>
            </a:r>
          </a:p>
          <a:p xmlns:a="http://schemas.openxmlformats.org/drawingml/2006/main">
            <a:r>
              <a:t>Source: t5-trees.tex, Equation (1), T8 construction. DKMN21, https://eprint.iacr.org/2021/373.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4:15–5:30. Target duration: 75 seconds.</a:t>
            </a:r>
          </a:p>
          <a:p xmlns:a="http://schemas.openxmlformats.org/drawingml/2006/main">
            <a:r>
              <a:t/>
            </a:r>
          </a:p>
          <a:p xmlns:a="http://schemas.openxmlformats.org/drawingml/2006/main">
            <a:r>
              <a:t>The commit algorithm computes all leaf digests, then hashes each ordered pair up to the root. Here C can use h_N on the two digests and a fixed zero block, preserving the same primitive width as the abstract leaf comparison. An opening consists of the record and the usual sibling path. Verification checks the record length, index range, and path length. The index bit at each level determines the order of the two inputs to C. Acceptance requires the final value to equal the supplied root. With a stored tree, proof generation only reads sibling digests and requires no new compression calls.</a:t>
            </a:r>
          </a:p>
          <a:p xmlns:a="http://schemas.openxmlformats.org/drawingml/2006/main">
            <a:r>
              <a:t/>
            </a:r>
          </a:p>
          <a:p xmlns:a="http://schemas.openxmlformats.org/drawingml/2006/main">
            <a:r>
              <a:t>Source: t5-trees.tex, Algorithms.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5:30–7:00. Target duration: 90 seconds.</a:t>
            </a:r>
          </a:p>
          <a:p xmlns:a="http://schemas.openxmlformats.org/drawingml/2006/main">
            <a:r>
              <a:t/>
            </a:r>
          </a:p>
          <a:p xmlns:a="http://schemas.openxmlformats.org/drawingml/2006/main">
            <a:r>
              <a:t>Make the comparator explicit before presenting the result. Each MD step takes the previous n-bit state and two n-bit record blocks, so an eight-block record requires four calls. The public IV and length are fixed, and this abstract baseline charges no additional padding call. Both constructions use the same N-minus-one upper nodes. Commitment therefore falls from 5N minus one to 4N minus one. Verification and full-record replacement each save one call. Root, path, and record lengths agree exactly. This comparison is specific to this interface and cannot be read as a universal claim about every standard hash API.</a:t>
            </a:r>
          </a:p>
          <a:p xmlns:a="http://schemas.openxmlformats.org/drawingml/2006/main">
            <a:r>
              <a:t/>
            </a:r>
          </a:p>
          <a:p xmlns:a="http://schemas.openxmlformats.org/drawingml/2006/main">
            <a:r>
              <a:t>Source: t5-trees.tex, Baseline and exact counts.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7:00–8:00. Target duration: 60 seconds.</a:t>
            </a:r>
          </a:p>
          <a:p xmlns:a="http://schemas.openxmlformats.org/drawingml/2006/main">
            <a:r>
              <a:t/>
            </a:r>
          </a:p>
          <a:p xmlns:a="http://schemas.openxmlformats.org/drawingml/2006/main">
            <a:r>
              <a:t>Use the concrete example to separate computational savings from communication. At n equal to 256 and N equal to 2 to the 20, the baseline commitment needs 5,242,879 calls and T8 needs 4,194,303, a saving of exactly 1,048,576. Verification needs 23 instead of 24 calls, or a 4.17 percent reduction. The path has twenty 32-byte digests, giving 640 bytes. Adding the 256-byte record gives 896 bytes in either scheme, excluding the index and framing. Total commitment call reduction approaches twenty percent as N grows. Twenty percent less work corresponds to 1.25 times throughput only in the equal-cost compression-dominated model.</a:t>
            </a:r>
          </a:p>
          <a:p xmlns:a="http://schemas.openxmlformats.org/drawingml/2006/main">
            <a:r>
              <a:t/>
            </a:r>
          </a:p>
          <a:p xmlns:a="http://schemas.openxmlformats.org/drawingml/2006/main">
            <a:r>
              <a:t>Source: t5-trees.tex, Concrete examples.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8:00–9:45. Target duration: 105 seconds.</a:t>
            </a:r>
          </a:p>
          <a:p xmlns:a="http://schemas.openxmlformats.org/drawingml/2006/main">
            <a:r>
              <a:t/>
            </a:r>
          </a:p>
          <a:p xmlns:a="http://schemas.openxmlformats.org/drawingml/2006/main">
            <a:r>
              <a:t>Define the attack as two distinct records opening at the same index under the same adversarially chosen root. There need not be a known full vector behind that root. Evaluate both paths. If their leaf digests agree, the distinct records immediately give a leaf collision. Otherwise the path values start different and end at the same root. At their first merging level, two distinct ordered node inputs have the same output. Because the index is the same, the differing path digest occupies the same coordinate in both node calls. This produces a node collision. The reduction evaluates just the two supplied paths, so it has no multiplicative loss in N and no guessing loss for the merge level.</a:t>
            </a:r>
          </a:p>
          <a:p xmlns:a="http://schemas.openxmlformats.org/drawingml/2006/main">
            <a:r>
              <a:t/>
            </a:r>
          </a:p>
          <a:p xmlns:a="http://schemas.openxmlformats.org/drawingml/2006/main">
            <a:r>
              <a:t>Source: t5-trees.tex, Security, Binding proposition.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9:45–11:15. Target duration: 90 seconds.</a:t>
            </a:r>
          </a:p>
          <a:p xmlns:a="http://schemas.openxmlformats.org/drawingml/2006/main">
            <a:r>
              <a:t/>
            </a:r>
          </a:p>
          <a:p xmlns:a="http://schemas.openxmlformats.org/drawingml/2006/main">
            <a:r>
              <a:t>The attacker makes q primitive queries. Completing two verification paths adds at most twice d plus three queries, so define Q accordingly. The advantage is at most the sum of the complete-leaf collision bound and the node collision bound. For ideal node hashing the latter is the birthday expression Q times Q minus one divided by 2 to the n plus one, capped at one. The writeup sharpens the T5 and T8 collision analysis to a coefficient gamma_n(Q) times Q squared over 2 to the n. The combined displayed bound follows. Emphasize the model: the role functions are independent ideal functions. Collision resistance of individual concrete compressors alone does not prove collision resistance of this XOR composition.</a:t>
            </a:r>
          </a:p>
          <a:p xmlns:a="http://schemas.openxmlformats.org/drawingml/2006/main">
            <a:r>
              <a:t/>
            </a:r>
          </a:p>
          <a:p xmlns:a="http://schemas.openxmlformats.org/drawingml/2006/main">
            <a:r>
              <a:t>Source: t5-trees.tex, Binding reduction and refined-binding equation.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11:15–12:45. Target duration: 90 seconds.</a:t>
            </a:r>
          </a:p>
          <a:p xmlns:a="http://schemas.openxmlformats.org/drawingml/2006/main">
            <a:r>
              <a:t/>
            </a:r>
          </a:p>
          <a:p xmlns:a="http://schemas.openxmlformats.org/drawingml/2006/main">
            <a:r>
              <a:t>Explain the contribution without spending the talk on its full proof. The original Appendix A coefficient is n squared plus ten. The refinement keeps the factorial in the matching-pair tail, permits a freely chosen cutoff, and bounds completed evaluations in expectation. It handles arbitrary adaptive query orders and assumes both collision evaluations are complete in the transcript. At 256 bits, the coefficient is 3.07 at a budget up to 2 to the 64, 9.01 at 2 to the 96, and 86.10 at 2 to the 120. These are rounded-up upper bounds and are not claims of tight attack complexity. A backup slide gives the explicit cutoff expression.</a:t>
            </a:r>
          </a:p>
          <a:p xmlns:a="http://schemas.openxmlformats.org/drawingml/2006/main">
            <a:r>
              <a:t/>
            </a:r>
          </a:p>
          <a:p xmlns:a="http://schemas.openxmlformats.org/drawingml/2006/main">
            <a:r>
              <a:t>Source: t5-trees.tex, Refined collision bound, theorem and concrete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12:45–13:45. Target duration: 60 seconds.</a:t>
            </a:r>
          </a:p>
          <a:p xmlns:a="http://schemas.openxmlformats.org/drawingml/2006/main">
            <a:r>
              <a:t/>
            </a:r>
          </a:p>
          <a:p xmlns:a="http://schemas.openxmlformats.org/drawingml/2006/main">
            <a:r>
              <a:t>For u distinct record positions, the upper reconstruction uses K(S) internal hashes and the proof transmits B(S) boundary digests. Neither depends on the choice of leaf hash. The leaf contribution drops from four u to three u calls, so the saving is one per distinct computed record. Repeated requests do not multiply the saving if the verifier already caches that record. For two sibling leaves the boundary has d-minus-one digests and reconstruction uses d internal hashes. Verification falls from d-plus-eight to d-plus-six. Whole-record updates have the same additive one-call saving. Partial updates with cached intermediate values depend on which block changes and require a separate comparison.</a:t>
            </a:r>
          </a:p>
          <a:p xmlns:a="http://schemas.openxmlformats.org/drawingml/2006/main">
            <a:r>
              <a:t/>
            </a:r>
          </a:p>
          <a:p xmlns:a="http://schemas.openxmlformats.org/drawingml/2006/main">
            <a:r>
              <a:t>Source: t5-trees.tex, Batched openings and updates.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13:45–14:45. Target duration: 60 seconds.</a:t>
            </a:r>
          </a:p>
          <a:p xmlns:a="http://schemas.openxmlformats.org/drawingml/2006/main">
            <a:r>
              <a:t/>
            </a:r>
          </a:p>
          <a:p xmlns:a="http://schemas.openxmlformats.org/drawingml/2006/main">
            <a:r>
              <a:t>The abstract saving is one compression per record, but T8 introduces three XORs. If tau is the cost of one leaf compressor and xi the cost of one n-bit XOR, the simplified saved work is N times tau minus three xi. Both schemes have the same upper-node contribution. Unequal costs for the domain roles require using their actual sum. Packing, memory traffic, SIMD occupancy, and allocation can change the measured result. T8 also reduces the leaf compression depth from four to two against the sequential MD comparator. A tree-shaped baseline could itself exploit parallelism, so the depth comparison is comparator-specific. This prepares the audience for native interfaces where one abstract call may require several real compressions.</a:t>
            </a:r>
          </a:p>
          <a:p xmlns:a="http://schemas.openxmlformats.org/drawingml/2006/main">
            <a:r>
              <a:t/>
            </a:r>
          </a:p>
          <a:p xmlns:a="http://schemas.openxmlformats.org/drawingml/2006/main">
            <a:r>
              <a:t>Source: t5-trees.tex, Compression counts versus running time.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14:45–16:15. Target duration: 90 seconds.</a:t>
            </a:r>
          </a:p>
          <a:p xmlns:a="http://schemas.openxmlformats.org/drawingml/2006/main">
            <a:r>
              <a:t/>
            </a:r>
          </a:p>
          <a:p xmlns:a="http://schemas.openxmlformats.org/drawingml/2006/main">
            <a:r>
              <a:t>For a 256-byte record, the tagged SHA-256 wrapper hashes a 17-byte tag plus a 96-byte input for each abstract call. That 113-byte message costs two padded SHA-256 blocks, so three T8 calls cost six native compressions. Standard SHA-256 costs five. SHA3-256 handles each 113-byte tagged call in one permutation, but it handles the full 256-byte standard leaf in two, so T8 costs three versus two. These comparisons concern leaf work only. They show why exploiting the actual primitive input and charging padding is necessary. SHA-256 compressions and Keccak permutations are different units, so compare each backend only against its own baseline.</a:t>
            </a:r>
          </a:p>
          <a:p xmlns:a="http://schemas.openxmlformats.org/drawingml/2006/main">
            <a:r>
              <a:t/>
            </a:r>
          </a:p>
          <a:p xmlns:a="http://schemas.openxmlformats.org/drawingml/2006/main">
            <a:r>
              <a:t>Source: t5-trees.tex, Count the actual primitive, including padding.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16:15–17:30. Target duration: 75 seconds.</a:t>
            </a:r>
          </a:p>
          <a:p xmlns:a="http://schemas.openxmlformats.org/drawingml/2006/main">
            <a:r>
              <a:t/>
            </a:r>
          </a:p>
          <a:p xmlns:a="http://schemas.openxmlformats.org/drawingml/2006/main">
            <a:r>
              <a:t>The SHA-256 adapter exposes its entire raw compressor input: a 32-byte chaining value and a 64-byte block. It reserves one chaining-value byte for a role and uses 95 payload bytes. Distinct role bytes create disjoint input domains. The BLAKE3 adapter uses 64 block bytes, 32 chaining-value bytes, and seven counter bytes as payload, reserving the high counter byte for the role. This gives 103 payload bytes per native call. These are research interfaces to raw compression and should not be described as standard SHA-256 or BLAKE3 hashing. Real role restrictions matter, and they do not themselves prove ideal behavior.</a:t>
            </a:r>
          </a:p>
          <a:p xmlns:a="http://schemas.openxmlformats.org/drawingml/2006/main">
            <a:r>
              <a:t/>
            </a:r>
          </a:p>
          <a:p xmlns:a="http://schemas.openxmlformats.org/drawingml/2006/main">
            <a:r>
              <a:t>Source: t5-trees.tex, Complete native input and real role bits.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17:30–18:45. Target duration: 75 seconds.</a:t>
            </a:r>
          </a:p>
          <a:p xmlns:a="http://schemas.openxmlformats.org/drawingml/2006/main">
            <a:r>
              <a:t/>
            </a:r>
          </a:p>
          <a:p xmlns:a="http://schemas.openxmlformats.org/drawingml/2006/main">
            <a:r>
              <a:t>At 64 KiB the source counts fewer useful native calls for each listed mode. SHA-256 ABR-wide uses 854 instead of 1,025, and BLAKE3 ABR-wide uses 774 instead of 1,087. The generalized T gadget absorbs three m minus 32 bytes initially and three m minus 64 fresh bytes per chained stage. ABR-wide uses seven calls, with six non-root calls independent of the preceding digest when the dependency sits in its root shared word. A short restricted MD tail can avoid paying for another entire gadget. For Keccak, the implementation instead changes absorption modes. SHAKE128 with 32-byte output has a different preimage target from SHA3-256. These figures compare call counts within a backend and carry different security assumptions.</a:t>
            </a:r>
          </a:p>
          <a:p xmlns:a="http://schemas.openxmlformats.org/drawingml/2006/main">
            <a:r>
              <a:t/>
            </a:r>
          </a:p>
          <a:p xmlns:a="http://schemas.openxmlformats.org/drawingml/2006/main">
            <a:r>
              <a:t>Source: t5-trees.tex, Widened gadgets, short tails, and Keccak alternatives.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18:45–20:15. Target duration: 90 seconds.</a:t>
            </a:r>
          </a:p>
          <a:p xmlns:a="http://schemas.openxmlformats.org/drawingml/2006/main">
            <a:r>
              <a:t/>
            </a:r>
          </a:p>
          <a:p xmlns:a="http://schemas.openxmlformats.org/drawingml/2006/main">
            <a:r>
              <a:t>These are the 28 September 2026 historical M4 Max measurements, using four Rayon workers and Rust 1.96.0. The workload has 2 to the 26 u32 values, 256 MiB in total, grouped into 64 KiB records. The chart shows standard median time divided by variant median time, so a ratio above one means faster. SHA-256 ABR-wide yields 1.82 times commitment and 1.58 times verification. BLAKE3 ABR-wide yields 1.40 and 1.10. T277 yields 1.35 commitment but 0.93 verification, so verification is slower despite fewer useful calls. The Keccak modes improve by smaller amounts. Seven calibrated batch samples underpin each case, but the percentile spreads are not confidence intervals. These are Merkle measurements, not end-to-end SNARK benchmarks.</a:t>
            </a:r>
          </a:p>
          <a:p xmlns:a="http://schemas.openxmlformats.org/drawingml/2006/main">
            <a:r>
              <a:t/>
            </a:r>
          </a:p>
          <a:p xmlns:a="http://schemas.openxmlformats.org/drawingml/2006/main">
            <a:r>
              <a:t>Source: t5-trees.tex, Measurements, M4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20:15–21:15. Target duration: 60 seconds.</a:t>
            </a:r>
          </a:p>
          <a:p xmlns:a="http://schemas.openxmlformats.org/drawingml/2006/main">
            <a:r>
              <a:t/>
            </a:r>
          </a:p>
          <a:p xmlns:a="http://schemas.openxmlformats.org/drawingml/2006/main">
            <a:r>
              <a:t>The writeup subsequently optimizes standard SHA-256 pair batching. The direct control comparison is on an M3, not the M4, at 2 to the 20 u32 elements and 64 KiB leaves. Within this same M3 control sweep, the before executable gave ABR-wide a 1.67 times commitment advantage. With the improved baseline that fell to 1.15, while verification stayed near 1.68 because the baseline optimization changed commitment only. The newer standard median is 0.3372 ms versus 0.2926 for ABR-wide. Verification is 26.205 versus 15.571 microseconds. Do not divide M4 ratios by improvements measured on M3. Record width also matters: BLAKE3 ABR-wide commitment is slower than standard at some short widths.</a:t>
            </a:r>
          </a:p>
          <a:p xmlns:a="http://schemas.openxmlformats.org/drawingml/2006/main">
            <a:r>
              <a:t/>
            </a:r>
          </a:p>
          <a:p xmlns:a="http://schemas.openxmlformats.org/drawingml/2006/main">
            <a:r>
              <a:t>Source: t5-trees.tex, Measurements, M3 control sweep and nonuniform gains.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21:15–22:45. Target duration: 90 seconds.</a:t>
            </a:r>
          </a:p>
          <a:p xmlns:a="http://schemas.openxmlformats.org/drawingml/2006/main">
            <a:r>
              <a:t/>
            </a:r>
          </a:p>
          <a:p xmlns:a="http://schemas.openxmlformats.org/drawingml/2006/main">
            <a:r>
              <a:t>The abstract T8 theorem assumes independent ideal role functions. Real disjoint role encodings are necessary for the intended model but do not establish ideal behavior of raw SHA-256 or variable-CV, variable-counter BLAKE3. The writeup offers only a provisional classical reduction sketch for widened ABR, retaining a polynomial loss and requiring formal review. The corrected narrow result covers a height-three gadget, rather than arbitrary heights or specialized partial openings. SHAKE128 trades to a 128-bit classical preimage target. SPONGE-DM272 has ideal-permutation exponents of 128 for collisions and 256 for preimages and second preimages for the stated parameters up to 64 KiB. These are model-level analyses, not concrete Keccak proofs. Position binding does not establish extractability, quantum security, or random-oracle substitutability.</a:t>
            </a:r>
          </a:p>
          <a:p xmlns:a="http://schemas.openxmlformats.org/drawingml/2006/main">
            <a:r>
              <a:t/>
            </a:r>
          </a:p>
          <a:p xmlns:a="http://schemas.openxmlformats.org/drawingml/2006/main">
            <a:r>
              <a:t>Source: t5-trees.tex, What is proved, and what remains an assumption.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22:45–24:15. Target duration: 90 seconds.</a:t>
            </a:r>
          </a:p>
          <a:p xmlns:a="http://schemas.openxmlformats.org/drawingml/2006/main">
            <a:r>
              <a:t/>
            </a:r>
          </a:p>
          <a:p xmlns:a="http://schemas.openxmlformats.org/drawingml/2006/main">
            <a:r>
              <a:t>If the protocol already commits to and opens these exact complete records, a prover saves the sum of N_j calls across its trees and the verifier saves the sum of u_j calls across distinct records it evaluates. This applies to suitable oracle-table commitments in IOP-based settings motivated by FRI and WHIR. The opening format and lengths stay the same, while the root values change and Fiat-Shamir challenges must be recomputed. If Merkle hashing occupies fraction alpha of prover time and its measured reduction is beta, total time becomes one minus alpha beta times the original, assuming other work remains fixed. As an illustrative calculation, alpha equal to 40 percent and beta equal to 20 percent gives eight percent less total time. That example is a model, not a measured result. Compiler-specific extraction and random-oracle requirements still need separate review.</a:t>
            </a:r>
          </a:p>
          <a:p xmlns:a="http://schemas.openxmlformats.org/drawingml/2006/main">
            <a:r>
              <a:t/>
            </a:r>
          </a:p>
          <a:p xmlns:a="http://schemas.openxmlformats.org/drawingml/2006/main">
            <a:r>
              <a:t>Source: t5-trees.tex, Applications to SNARKs and authenticated data.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24:15–25:00. Target duration: 45 seconds.</a:t>
            </a:r>
          </a:p>
          <a:p xmlns:a="http://schemas.openxmlformats.org/drawingml/2006/main">
            <a:r>
              <a:t/>
            </a:r>
          </a:p>
          <a:p xmlns:a="http://schemas.openxmlformats.org/drawingml/2006/main">
            <a:r>
              <a:t>Close on the exact scope of the result. For the specified eight-block format and four-call fixed-length MD comparator, T8 saves one compression call for each committed record and each verified distinct record. The root length, disclosed record size, and authentication path size stay fixed. The binding argument is direct because the verifier knows every leaf input. Concrete gains then depend on native payload capacity, separation, scheduling, and the quality of the comparator. The benchmark evidence supports specific backend and width configurations, and the security status differs across research modes. Invite discussion on the opening unit, the refined collision bound, or the concrete adapters. The following slides provide optional detail outside the 25-minute talk.</a:t>
            </a:r>
          </a:p>
          <a:p xmlns:a="http://schemas.openxmlformats.org/drawingml/2006/main">
            <a:r>
              <a:t/>
            </a:r>
          </a:p>
          <a:p xmlns:a="http://schemas.openxmlformats.org/drawingml/2006/main">
            <a:r>
              <a:t>Source: t5-trees.tex, Conclusion.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Let rho be Q squared over 2 to the n. For any positive integer K, the proof establishes B_n(Q,K) as displayed. The first term captures fresh-query collision contributions, the second accounts for expectation bounds, and the last keeps the factorial matching-pair tail. Choose the first K for which c_{K+1} is at least c_K, where c_K equals B divided by rho. The writeup proves this first nondecrease gives the global integer minimizer. For Q at most 2 to the n over two, a uniform cutoff yields O((n/log n) squared Q squared / 2 to the n). This is an improved upper bound rather than a tight characterization.</a:t>
            </a:r>
          </a:p>
          <a:p xmlns:a="http://schemas.openxmlformats.org/drawingml/2006/main">
            <a:r>
              <a:t/>
            </a:r>
          </a:p>
          <a:p xmlns:a="http://schemas.openxmlformats.org/drawingml/2006/main">
            <a:r>
              <a:t>Source: t5-trees.tex, Refined collision theorem and proof.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The table shows initial capacity and fresh bytes in subsequent chained stages. For a generic gadget costing g calls, write its initial capacity as 32 plus D and its later capacity as D. A restricted MD tail takes the full previous 32-byte digest plus t equal to m minus 32 fresh bytes. For record size B, compare C_0(B) equal to one plus ceil((B-m)_+/t) with C_k(B) equal to gk plus ceil((B-32-kD)_+/t). The public width determines the plan. At 64 KiB, BLAKE3 ABR-wide uses 110 gadgets and four tails for 774 calls. T277 uses 266 gadgets and five tails for 803. Tie-breaking favors less padding before more gadgets. Fixed-width padding and authenticated context preserve unambiguous record encoding.</a:t>
            </a:r>
          </a:p>
          <a:p xmlns:a="http://schemas.openxmlformats.org/drawingml/2006/main">
            <a:r>
              <a:t/>
            </a:r>
          </a:p>
          <a:p xmlns:a="http://schemas.openxmlformats.org/drawingml/2006/main">
            <a:r>
              <a:t>Source: t5-trees.tex, Concrete compression interfaces and schedules.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A circuit proving knowledge of a valid complete record and Merkle path computes the leaf and then the unchanged node hashes. Let g be the cost of a compressor and g_xor the cost of one n-bit XOR in that representation. Replacing four calls by three calls and three XORs saves g minus three g_xor per leaf. Bit-oriented representations can make this attractive. In prime-field arithmetic, bit decomposition and XOR can cost enough to remove the saving, so actual constraint counts are necessary. Replacing XOR with field addition would define a different construction, and the bitstring security analysis would not transfer automatically.</a:t>
            </a:r>
          </a:p>
          <a:p xmlns:a="http://schemas.openxmlformats.org/drawingml/2006/main">
            <a:r>
              <a:t/>
            </a:r>
          </a:p>
          <a:p xmlns:a="http://schemas.openxmlformats.org/drawingml/2006/main">
            <a:r>
              <a:t>Source: t5-trees.tex, Proving an opening inside a SNARK.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b43b042d2a4b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19d3e78b9a4cea" /><Relationship Type="http://schemas.openxmlformats.org/officeDocument/2006/relationships/slideLayout" Target="/ppt/slideLayouts/slideLayout1.xml" Id="R2ab40d247a1a45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b40d247a1a45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d39a08dd76433d" /><Relationship Type="http://schemas.openxmlformats.org/officeDocument/2006/relationships/notesSlide" Target="/ppt/notesSlides/notesSlide1.xml" Id="R635e3d1263bd48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530b87b2b74d49" /><Relationship Type="http://schemas.openxmlformats.org/officeDocument/2006/relationships/notesSlide" Target="/ppt/notesSlides/notesSlide2.xml" Id="R523591b8250e4f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1f552d7e924322" /><Relationship Type="http://schemas.openxmlformats.org/officeDocument/2006/relationships/notesSlide" Target="/ppt/notesSlides/notesSlide3.xml" Id="Rdf3483a6560842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1e4b1e60004e4d" /><Relationship Type="http://schemas.openxmlformats.org/officeDocument/2006/relationships/notesSlide" Target="/ppt/notesSlides/notesSlide4.xml" Id="R6348050ec53d40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c58e1ca3f84fb0" /><Relationship Type="http://schemas.openxmlformats.org/officeDocument/2006/relationships/notesSlide" Target="/ppt/notesSlides/notesSlide5.xml" Id="Re69ba2241c854a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c1181400e1424d" /><Relationship Type="http://schemas.openxmlformats.org/officeDocument/2006/relationships/notesSlide" Target="/ppt/notesSlides/notesSlide6.xml" Id="R8850cdc3ec8b40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85b113af8345bc" /><Relationship Type="http://schemas.openxmlformats.org/officeDocument/2006/relationships/notesSlide" Target="/ppt/notesSlides/notesSlide7.xml" Id="Rc041d449e1c044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38d3e6319245a1" /><Relationship Type="http://schemas.openxmlformats.org/officeDocument/2006/relationships/notesSlide" Target="/ppt/notesSlides/notesSlide8.xml" Id="R28d4e3b68bd047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a7fee31fac4ee6" /><Relationship Type="http://schemas.openxmlformats.org/officeDocument/2006/relationships/notesSlide" Target="/ppt/notesSlides/notesSlide9.xml" Id="Raafbb2de23904d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806749b0fc437b" /><Relationship Type="http://schemas.openxmlformats.org/officeDocument/2006/relationships/notesSlide" Target="/ppt/notesSlides/notesSlide10.xml" Id="R12d4d2398c9043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ee198f29a54aa7" /><Relationship Type="http://schemas.openxmlformats.org/officeDocument/2006/relationships/notesSlide" Target="/ppt/notesSlides/notesSlide11.xml" Id="R81a5fd5d2f6647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155e5cf4a1490d" /><Relationship Type="http://schemas.openxmlformats.org/officeDocument/2006/relationships/notesSlide" Target="/ppt/notesSlides/notesSlide12.xml" Id="Rda78037822ef41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01dd649de7c41c2" /><Relationship Type="http://schemas.openxmlformats.org/officeDocument/2006/relationships/notesSlide" Target="/ppt/notesSlides/notesSlide13.xml" Id="R69e8220b3b1f48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29f60f0b284e33" /><Relationship Type="http://schemas.openxmlformats.org/officeDocument/2006/relationships/notesSlide" Target="/ppt/notesSlides/notesSlide14.xml" Id="Rdacd727ecc6042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fd43e4ce174223" /><Relationship Type="http://schemas.openxmlformats.org/officeDocument/2006/relationships/notesSlide" Target="/ppt/notesSlides/notesSlide15.xml" Id="R2d4a81587fbb44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a9d49cf37c43e2" /><Relationship Type="http://schemas.openxmlformats.org/officeDocument/2006/relationships/chart" Target="/ppt/slides/charts/chart1.xml" Id="Re1dae66a410347b1" /><Relationship Type="http://schemas.openxmlformats.org/officeDocument/2006/relationships/notesSlide" Target="/ppt/notesSlides/notesSlide16.xml" Id="R3c50961e4caf41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cae0fbcc5f4310" /><Relationship Type="http://schemas.openxmlformats.org/officeDocument/2006/relationships/notesSlide" Target="/ppt/notesSlides/notesSlide17.xml" Id="Rc6266c6150c242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a895322c3bc48e3" /><Relationship Type="http://schemas.openxmlformats.org/officeDocument/2006/relationships/notesSlide" Target="/ppt/notesSlides/notesSlide18.xml" Id="R65de876d054e49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83c41c8c344131" /><Relationship Type="http://schemas.openxmlformats.org/officeDocument/2006/relationships/notesSlide" Target="/ppt/notesSlides/notesSlide19.xml" Id="R946e5173c10444f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f0512a02aca4f9c" /><Relationship Type="http://schemas.openxmlformats.org/officeDocument/2006/relationships/notesSlide" Target="/ppt/notesSlides/notesSlide20.xml" Id="R42bf6130044f4a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746950d54648e2" /><Relationship Type="http://schemas.openxmlformats.org/officeDocument/2006/relationships/notesSlide" Target="/ppt/notesSlides/notesSlide21.xml" Id="R337c1975780b4a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6a80caaeab14be6" /><Relationship Type="http://schemas.openxmlformats.org/officeDocument/2006/relationships/notesSlide" Target="/ppt/notesSlides/notesSlide22.xml" Id="R8fce15b3717d46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5b7bb40632f43cc" /><Relationship Type="http://schemas.openxmlformats.org/officeDocument/2006/relationships/notesSlide" Target="/ppt/notesSlides/notesSlide23.xml" Id="Rf31f31f4282c4742" /></Relationships>
</file>

<file path=ppt/slides/charts/chart1.xml><?xml version="1.0" encoding="utf-8"?>
<c:chartSpace xmlns:c="http://schemas.openxmlformats.org/drawingml/2006/chart">
  <c:lang val="en-US"/>
  <c:chart>
    <c:plotArea>
      <c:barChart>
        <c:barDir val="col"/>
        <c:grouping val="clustered"/>
        <c:varyColors val="0"/>
        <c:ser>
          <c:idx val="0"/>
          <c:order val="0"/>
          <c:tx>
            <c:v>Commit speedup</c:v>
          </c:tx>
          <c:spPr>
            <a:solidFill xmlns:a="http://schemas.openxmlformats.org/drawingml/2006/main">
              <a:srgbClr val="087F82"/>
            </a:solidFill>
          </c:spPr>
          <c:cat>
            <c:strLit>
              <c:ptCount val="5"/>
              <c:pt idx="0">
                <c:v>SHA-256
ABR-wide</c:v>
              </c:pt>
              <c:pt idx="1">
                <c:v>BLAKE3
ABR-wide</c:v>
              </c:pt>
              <c:pt idx="2">
                <c:v>BLAKE3
T277</c:v>
              </c:pt>
              <c:pt idx="3">
                <c:v>Keccak
SHAKE128</c:v>
              </c:pt>
              <c:pt idx="4">
                <c:v>Keccak
SPONGE-DM</c:v>
              </c:pt>
            </c:strLit>
          </c:cat>
          <c:val>
            <c:numLit>
              <c:formatCode>0.00"×"</c:formatCode>
              <c:ptCount val="5"/>
              <c:pt idx="0">
                <c:v>1.82</c:v>
              </c:pt>
              <c:pt idx="1">
                <c:v>1.4</c:v>
              </c:pt>
              <c:pt idx="2">
                <c:v>1.35</c:v>
              </c:pt>
              <c:pt idx="3">
                <c:v>1.25</c:v>
              </c:pt>
              <c:pt idx="4">
                <c:v>1.18</c:v>
              </c:pt>
            </c:numLit>
          </c:val>
        </c:ser>
        <c:ser>
          <c:idx val="1"/>
          <c:order val="1"/>
          <c:tx>
            <c:v>Verify speedup</c:v>
          </c:tx>
          <c:spPr>
            <a:solidFill xmlns:a="http://schemas.openxmlformats.org/drawingml/2006/main">
              <a:srgbClr val="8DA8B4"/>
            </a:solidFill>
          </c:spPr>
          <c:cat>
            <c:strLit>
              <c:ptCount val="5"/>
              <c:pt idx="0">
                <c:v>SHA-256
ABR-wide</c:v>
              </c:pt>
              <c:pt idx="1">
                <c:v>BLAKE3
ABR-wide</c:v>
              </c:pt>
              <c:pt idx="2">
                <c:v>BLAKE3
T277</c:v>
              </c:pt>
              <c:pt idx="3">
                <c:v>Keccak
SHAKE128</c:v>
              </c:pt>
              <c:pt idx="4">
                <c:v>Keccak
SPONGE-DM</c:v>
              </c:pt>
            </c:strLit>
          </c:cat>
          <c:val>
            <c:numLit>
              <c:formatCode>0.00"×"</c:formatCode>
              <c:ptCount val="5"/>
              <c:pt idx="0">
                <c:v>1.58</c:v>
              </c:pt>
              <c:pt idx="1">
                <c:v>1.1</c:v>
              </c:pt>
              <c:pt idx="2">
                <c:v>0.93</c:v>
              </c:pt>
              <c:pt idx="3">
                <c:v>1.19</c:v>
              </c:pt>
              <c:pt idx="4">
                <c:v>1.13</c:v>
              </c:pt>
            </c:numLit>
          </c:val>
        </c:ser>
        <c:dLbls>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2"/>
          <c:min val="0"/>
        </c:scaling>
        <c:delete val="0"/>
        <c:axPos val="l"/>
        <c:majorGridlines>
          <c:spPr>
            <a:ln xmlns:a="http://schemas.openxmlformats.org/drawingml/2006/main" w="9525">
              <a:solidFill>
                <a:srgbClr val="DEE6E7"/>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8FA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8FAF9"/>
    </a:solidFill>
  </c:spPr>
</c:chartSpace>
</file>

<file path=ppt/slides/slide1.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B4C5DC-D08E-4F5A-9904-6DD8E13B23A6}"/>
              </a:ext>
            </a:extLst>
          </p:cNvPr>
          <p:cNvSpPr>
            <a:spLocks xmlns:a="http://schemas.openxmlformats.org/drawingml/2006/main" noGrp="1"/>
          </p:cNvSpPr>
          <p:nvPr/>
        </p:nvSpPr>
        <p:spPr>
          <a:xfrm xmlns:a="http://schemas.openxmlformats.org/drawingml/2006/main">
            <a:off x="647700" y="12382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Faster Merkle Commitments</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with T8 Leaves</a:t>
            </a:r>
          </a:p>
        </p:txBody>
      </p:sp>
      <p:sp>
        <p:nvSpPr>
          <p:cNvPr id="2" name="">
            <a:extLst xmlns:a="http://schemas.openxmlformats.org/drawingml/2006/main">
              <a:ext uri="{FF2B5EF4-FFF2-40B4-BE49-F238E27FC236}">
                <a16:creationId xmlns:a16="http://schemas.microsoft.com/office/drawing/2014/main" id="{54C1C10A-99FB-4EDE-95B1-6263B2E4122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58BA177-D5FE-4DAF-95D5-8DA6740D3D2C}"/>
              </a:ext>
            </a:extLst>
          </p:cNvPr>
          <p:cNvSpPr>
            <a:spLocks xmlns:a="http://schemas.openxmlformats.org/drawingml/2006/main" noGrp="1"/>
          </p:cNvSpPr>
          <p:nvPr/>
        </p:nvSpPr>
        <p:spPr>
          <a:xfrm xmlns:a="http://schemas.openxmlformats.org/drawingml/2006/main">
            <a:off x="704850" y="3571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4E6"/>
                </a:solidFill>
                <a:latin typeface="Helvetica Neue"/>
                <a:ea typeface="Helvetica Neue"/>
                <a:cs typeface="Helvetica Neue"/>
              </a:defRPr>
            </a:pPr>
            <a:r>
              <a:rPr sz="2100" b="0">
                <a:solidFill>
                  <a:srgbClr val="D4E4E6"/>
                </a:solidFill>
                <a:latin typeface="Helvetica Neue"/>
                <a:ea typeface="Helvetica Neue"/>
                <a:cs typeface="Helvetica Neue"/>
              </a:rPr>
              <a:t>Thomas Coratger, Giacomo Fenzi, Eylon Yogev</a:t>
            </a:r>
          </a:p>
        </p:txBody>
      </p:sp>
      <p:sp>
        <p:nvSpPr>
          <p:cNvPr id="4" name="">
            <a:extLst xmlns:a="http://schemas.openxmlformats.org/drawingml/2006/main">
              <a:ext uri="{FF2B5EF4-FFF2-40B4-BE49-F238E27FC236}">
                <a16:creationId xmlns:a16="http://schemas.microsoft.com/office/drawing/2014/main" id="{7EB15139-146D-4640-B50D-8EB5BEEAC816}"/>
              </a:ext>
            </a:extLst>
          </p:cNvPr>
          <p:cNvSpPr>
            <a:spLocks xmlns:a="http://schemas.openxmlformats.org/drawingml/2006/main" noGrp="1"/>
          </p:cNvSpPr>
          <p:nvPr/>
        </p:nvSpPr>
        <p:spPr>
          <a:xfrm xmlns:a="http://schemas.openxmlformats.org/drawingml/2006/main">
            <a:off x="704850" y="4524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1C8C8"/>
                </a:solidFill>
                <a:latin typeface="Helvetica Neue"/>
                <a:ea typeface="Helvetica Neue"/>
                <a:cs typeface="Helvetica Neue"/>
              </a:defRPr>
            </a:pPr>
            <a:r>
              <a:rPr sz="2100" b="0">
                <a:solidFill>
                  <a:srgbClr val="91C8C8"/>
                </a:solidFill>
                <a:latin typeface="Helvetica Neue"/>
                <a:ea typeface="Helvetica Neue"/>
                <a:cs typeface="Helvetica Neue"/>
              </a:rPr>
              <a:t>A 25-minute technical talk</a:t>
            </a:r>
          </a:p>
        </p:txBody>
      </p:sp>
    </p:spTree>
    <p:extLst>
      <p:ext uri="{BB962C8B-B14F-4D97-AF65-F5344CB8AC3E}">
        <p14:creationId xmlns:p14="http://schemas.microsoft.com/office/powerpoint/2010/main" val="1458512740"/>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587F1C-88EA-48D8-9881-DE2B0620651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leaf is a separate cost center</a:t>
            </a:r>
          </a:p>
        </p:txBody>
      </p:sp>
      <p:sp>
        <p:nvSpPr>
          <p:cNvPr id="2" name="">
            <a:extLst xmlns:a="http://schemas.openxmlformats.org/drawingml/2006/main">
              <a:ext uri="{FF2B5EF4-FFF2-40B4-BE49-F238E27FC236}">
                <a16:creationId xmlns:a16="http://schemas.microsoft.com/office/drawing/2014/main" id="{F63543D9-000A-4684-9DA6-AB623DB77E73}"/>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5C0AB615-152E-41E8-B7EF-DC61437AD222}"/>
              </a:ext>
            </a:extLst>
          </p:cNvPr>
          <p:cNvSpPr>
            <a:spLocks xmlns:a="http://schemas.openxmlformats.org/drawingml/2006/main" noGrp="1"/>
          </p:cNvSpPr>
          <p:nvPr/>
        </p:nvSpPr>
        <p:spPr>
          <a:xfrm xmlns:a="http://schemas.openxmlformats.org/drawingml/2006/main">
            <a:off x="704850" y="1952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Record hashing: one digest for every complete record</a:t>
            </a:r>
          </a:p>
        </p:txBody>
      </p:sp>
      <p:sp>
        <p:nvSpPr>
          <p:cNvPr id="4" name="">
            <a:extLst xmlns:a="http://schemas.openxmlformats.org/drawingml/2006/main">
              <a:ext uri="{FF2B5EF4-FFF2-40B4-BE49-F238E27FC236}">
                <a16:creationId xmlns:a16="http://schemas.microsoft.com/office/drawing/2014/main" id="{8A98B4B6-0A3A-4B49-810B-4912CC270931}"/>
              </a:ext>
            </a:extLst>
          </p:cNvPr>
          <p:cNvSpPr>
            <a:spLocks xmlns:a="http://schemas.openxmlformats.org/drawingml/2006/main" noGrp="1"/>
          </p:cNvSpPr>
          <p:nvPr/>
        </p:nvSpPr>
        <p:spPr>
          <a:xfrm xmlns:a="http://schemas.openxmlformats.org/drawingml/2006/main">
            <a:off x="704850" y="29241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Upper tree: ordinary ordered binary hashing</a:t>
            </a:r>
          </a:p>
        </p:txBody>
      </p:sp>
      <p:sp>
        <p:nvSpPr>
          <p:cNvPr id="5" name="">
            <a:extLst xmlns:a="http://schemas.openxmlformats.org/drawingml/2006/main">
              <a:ext uri="{FF2B5EF4-FFF2-40B4-BE49-F238E27FC236}">
                <a16:creationId xmlns:a16="http://schemas.microsoft.com/office/drawing/2014/main" id="{27CA8663-DA3F-441C-86AA-395D33F3C9A7}"/>
              </a:ext>
            </a:extLst>
          </p:cNvPr>
          <p:cNvSpPr>
            <a:spLocks xmlns:a="http://schemas.openxmlformats.org/drawingml/2006/main" noGrp="1"/>
          </p:cNvSpPr>
          <p:nvPr/>
        </p:nvSpPr>
        <p:spPr>
          <a:xfrm xmlns:a="http://schemas.openxmlformats.org/drawingml/2006/main">
            <a:off x="704850" y="38957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Opening: recompute the record hash and its path</a:t>
            </a:r>
          </a:p>
        </p:txBody>
      </p:sp>
      <p:sp>
        <p:nvSpPr>
          <p:cNvPr id="6" name="">
            <a:extLst xmlns:a="http://schemas.openxmlformats.org/drawingml/2006/main">
              <a:ext uri="{FF2B5EF4-FFF2-40B4-BE49-F238E27FC236}">
                <a16:creationId xmlns:a16="http://schemas.microsoft.com/office/drawing/2014/main" id="{5965D105-54B4-4051-9C3B-0BF2F710595A}"/>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Replace the leaf hash while preserving the authentication structure</a:t>
            </a:r>
          </a:p>
        </p:txBody>
      </p:sp>
    </p:spTree>
    <p:extLst>
      <p:ext uri="{BB962C8B-B14F-4D97-AF65-F5344CB8AC3E}">
        <p14:creationId xmlns:p14="http://schemas.microsoft.com/office/powerpoint/2010/main" val="1161509434"/>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8BAA8A-10D2-46CA-B3BA-89FE994A29D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opening unit is the whole record</a:t>
            </a:r>
          </a:p>
        </p:txBody>
      </p:sp>
      <p:sp>
        <p:nvSpPr>
          <p:cNvPr id="2" name="">
            <a:extLst xmlns:a="http://schemas.openxmlformats.org/drawingml/2006/main">
              <a:ext uri="{FF2B5EF4-FFF2-40B4-BE49-F238E27FC236}">
                <a16:creationId xmlns:a16="http://schemas.microsoft.com/office/drawing/2014/main" id="{AE43D52C-F83D-4B0A-A5AA-501773A6696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4C0A12A2-00D1-401C-8F65-1B1DF7DAF4E0}"/>
              </a:ext>
            </a:extLst>
          </p:cNvPr>
          <p:cNvSpPr>
            <a:spLocks xmlns:a="http://schemas.openxmlformats.org/drawingml/2006/main" noGrp="1"/>
          </p:cNvSpPr>
          <p:nvPr/>
        </p:nvSpPr>
        <p:spPr>
          <a:xfrm xmlns:a="http://schemas.openxmlformats.org/drawingml/2006/main">
            <a:off x="723900" y="2000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Xᵢ = (xᵢ,₁, …, xᵢ,₈)     N = 2ᵈ</a:t>
            </a:r>
          </a:p>
        </p:txBody>
      </p:sp>
      <p:sp>
        <p:nvSpPr>
          <p:cNvPr id="4" name="">
            <a:extLst xmlns:a="http://schemas.openxmlformats.org/drawingml/2006/main">
              <a:ext uri="{FF2B5EF4-FFF2-40B4-BE49-F238E27FC236}">
                <a16:creationId xmlns:a16="http://schemas.microsoft.com/office/drawing/2014/main" id="{CE022BF0-039E-4246-B87F-DBEF2878FE45}"/>
              </a:ext>
            </a:extLst>
          </p:cNvPr>
          <p:cNvSpPr>
            <a:spLocks xmlns:a="http://schemas.openxmlformats.org/drawingml/2006/main" noGrp="1"/>
          </p:cNvSpPr>
          <p:nvPr/>
        </p:nvSpPr>
        <p:spPr>
          <a:xfrm xmlns:a="http://schemas.openxmlformats.org/drawingml/2006/main">
            <a:off x="704850" y="3381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The verifier receives every block of Xᵢ</a:t>
            </a:r>
          </a:p>
        </p:txBody>
      </p:sp>
      <p:sp>
        <p:nvSpPr>
          <p:cNvPr id="5" name="">
            <a:extLst xmlns:a="http://schemas.openxmlformats.org/drawingml/2006/main">
              <a:ext uri="{FF2B5EF4-FFF2-40B4-BE49-F238E27FC236}">
                <a16:creationId xmlns:a16="http://schemas.microsoft.com/office/drawing/2014/main" id="{B1E96747-820D-4471-AAC4-D79F7A5C0956}"/>
              </a:ext>
            </a:extLst>
          </p:cNvPr>
          <p:cNvSpPr>
            <a:spLocks xmlns:a="http://schemas.openxmlformats.org/drawingml/2006/main" noGrp="1"/>
          </p:cNvSpPr>
          <p:nvPr/>
        </p:nvSpPr>
        <p:spPr>
          <a:xfrm xmlns:a="http://schemas.openxmlformats.org/drawingml/2006/main">
            <a:off x="704850" y="4429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Public context fixes length, order, N, and the hash suite</a:t>
            </a:r>
          </a:p>
        </p:txBody>
      </p:sp>
      <p:sp>
        <p:nvSpPr>
          <p:cNvPr id="6" name="">
            <a:extLst xmlns:a="http://schemas.openxmlformats.org/drawingml/2006/main">
              <a:ext uri="{FF2B5EF4-FFF2-40B4-BE49-F238E27FC236}">
                <a16:creationId xmlns:a16="http://schemas.microsoft.com/office/drawing/2014/main" id="{F7DBE1F3-B5E0-4C33-971B-06F9493A9CC2}"/>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For n = 256, each record contains 256 bytes</a:t>
            </a:r>
          </a:p>
        </p:txBody>
      </p:sp>
    </p:spTree>
    <p:extLst>
      <p:ext uri="{BB962C8B-B14F-4D97-AF65-F5344CB8AC3E}">
        <p14:creationId xmlns:p14="http://schemas.microsoft.com/office/powerpoint/2010/main" val="1150127278"/>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83A714-70C6-4E8B-ACA8-1D8C5AF9EFBE}"/>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T8 hashes eight blocks with three calls</a:t>
            </a:r>
          </a:p>
        </p:txBody>
      </p:sp>
      <p:sp>
        <p:nvSpPr>
          <p:cNvPr id="2" name="">
            <a:extLst xmlns:a="http://schemas.openxmlformats.org/drawingml/2006/main">
              <a:ext uri="{FF2B5EF4-FFF2-40B4-BE49-F238E27FC236}">
                <a16:creationId xmlns:a16="http://schemas.microsoft.com/office/drawing/2014/main" id="{72C1335B-A689-47D5-ACF5-657F67C9AC64}"/>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C0F133A9-5587-4192-87D8-8E53ED96955E}"/>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 = h₁(x₁, x₂, x₃)</a:t>
            </a:r>
          </a:p>
        </p:txBody>
      </p:sp>
      <p:sp>
        <p:nvSpPr>
          <p:cNvPr id="4" name="">
            <a:extLst xmlns:a="http://schemas.openxmlformats.org/drawingml/2006/main">
              <a:ext uri="{FF2B5EF4-FFF2-40B4-BE49-F238E27FC236}">
                <a16:creationId xmlns:a16="http://schemas.microsoft.com/office/drawing/2014/main" id="{17BC8988-AEDF-4878-8FC6-27F1EB4E1924}"/>
              </a:ext>
            </a:extLst>
          </p:cNvPr>
          <p:cNvSpPr>
            <a:spLocks xmlns:a="http://schemas.openxmlformats.org/drawingml/2006/main" noGrp="1"/>
          </p:cNvSpPr>
          <p:nvPr/>
        </p:nvSpPr>
        <p:spPr>
          <a:xfrm xmlns:a="http://schemas.openxmlformats.org/drawingml/2006/main">
            <a:off x="723900" y="2762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b = h₂(x₄, x₅, x₆)</a:t>
            </a:r>
          </a:p>
        </p:txBody>
      </p:sp>
      <p:sp>
        <p:nvSpPr>
          <p:cNvPr id="5" name="">
            <a:extLst xmlns:a="http://schemas.openxmlformats.org/drawingml/2006/main">
              <a:ext uri="{FF2B5EF4-FFF2-40B4-BE49-F238E27FC236}">
                <a16:creationId xmlns:a16="http://schemas.microsoft.com/office/drawing/2014/main" id="{74A78A7A-A4BB-4043-A21A-E210AC42B11E}"/>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L₈(X) = h₃(a ⊕ x₇, b ⊕ x₇, x₈) ⊕ x₇</a:t>
            </a:r>
          </a:p>
        </p:txBody>
      </p:sp>
      <p:sp>
        <p:nvSpPr>
          <p:cNvPr id="6" name="">
            <a:extLst xmlns:a="http://schemas.openxmlformats.org/drawingml/2006/main">
              <a:ext uri="{FF2B5EF4-FFF2-40B4-BE49-F238E27FC236}">
                <a16:creationId xmlns:a16="http://schemas.microsoft.com/office/drawing/2014/main" id="{A9EE710E-C451-4BC5-B463-A18A48E7065B}"/>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Three 3n-to-n calls, three XORs, compression depth two</a:t>
            </a:r>
          </a:p>
        </p:txBody>
      </p:sp>
    </p:spTree>
    <p:extLst>
      <p:ext uri="{BB962C8B-B14F-4D97-AF65-F5344CB8AC3E}">
        <p14:creationId xmlns:p14="http://schemas.microsoft.com/office/powerpoint/2010/main" val="1134908547"/>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5CF375-03DE-423B-B55E-F97963C3C6D6}"/>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Commitment and verification</a:t>
            </a:r>
          </a:p>
        </p:txBody>
      </p:sp>
      <p:sp>
        <p:nvSpPr>
          <p:cNvPr id="2" name="">
            <a:extLst xmlns:a="http://schemas.openxmlformats.org/drawingml/2006/main">
              <a:ext uri="{FF2B5EF4-FFF2-40B4-BE49-F238E27FC236}">
                <a16:creationId xmlns:a16="http://schemas.microsoft.com/office/drawing/2014/main" id="{951FCF97-BAE0-4F45-8DC4-1A84321A51F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B46A7D3-5005-4291-AD39-428073356D28}"/>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C(a, b) = h_node(a, b, 0ⁿ)</a:t>
            </a:r>
          </a:p>
        </p:txBody>
      </p:sp>
      <p:sp>
        <p:nvSpPr>
          <p:cNvPr id="4" name="">
            <a:extLst xmlns:a="http://schemas.openxmlformats.org/drawingml/2006/main">
              <a:ext uri="{FF2B5EF4-FFF2-40B4-BE49-F238E27FC236}">
                <a16:creationId xmlns:a16="http://schemas.microsoft.com/office/drawing/2014/main" id="{854A8EF3-2DF5-412F-B9BD-622021D787CC}"/>
              </a:ext>
            </a:extLst>
          </p:cNvPr>
          <p:cNvSpPr>
            <a:spLocks xmlns:a="http://schemas.openxmlformats.org/drawingml/2006/main" noGrp="1"/>
          </p:cNvSpPr>
          <p:nvPr/>
        </p:nvSpPr>
        <p:spPr>
          <a:xfrm xmlns:a="http://schemas.openxmlformats.org/drawingml/2006/main">
            <a:off x="704850" y="30003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Commit: compute L₈(Xᵢ), then N − 1 internal hashes</a:t>
            </a:r>
          </a:p>
        </p:txBody>
      </p:sp>
      <p:sp>
        <p:nvSpPr>
          <p:cNvPr id="5" name="">
            <a:extLst xmlns:a="http://schemas.openxmlformats.org/drawingml/2006/main">
              <a:ext uri="{FF2B5EF4-FFF2-40B4-BE49-F238E27FC236}">
                <a16:creationId xmlns:a16="http://schemas.microsoft.com/office/drawing/2014/main" id="{9687D5AC-06C6-41EF-95E8-4CAC94B3597A}"/>
              </a:ext>
            </a:extLst>
          </p:cNvPr>
          <p:cNvSpPr>
            <a:spLocks xmlns:a="http://schemas.openxmlformats.org/drawingml/2006/main" noGrp="1"/>
          </p:cNvSpPr>
          <p:nvPr/>
        </p:nvSpPr>
        <p:spPr>
          <a:xfrm xmlns:a="http://schemas.openxmlformats.org/drawingml/2006/main">
            <a:off x="704850" y="38957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Verify: compute L₈(Xᵢ), then d ordered path hashes</a:t>
            </a:r>
          </a:p>
        </p:txBody>
      </p:sp>
      <p:sp>
        <p:nvSpPr>
          <p:cNvPr id="6" name="">
            <a:extLst xmlns:a="http://schemas.openxmlformats.org/drawingml/2006/main">
              <a:ext uri="{FF2B5EF4-FFF2-40B4-BE49-F238E27FC236}">
                <a16:creationId xmlns:a16="http://schemas.microsoft.com/office/drawing/2014/main" id="{9886D411-4412-4357-B9E8-F29BB4D73AC1}"/>
              </a:ext>
            </a:extLst>
          </p:cNvPr>
          <p:cNvSpPr>
            <a:spLocks xmlns:a="http://schemas.openxmlformats.org/drawingml/2006/main" noGrp="1"/>
          </p:cNvSpPr>
          <p:nvPr/>
        </p:nvSpPr>
        <p:spPr>
          <a:xfrm xmlns:a="http://schemas.openxmlformats.org/drawingml/2006/main">
            <a:off x="704850" y="4791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Accept when the reconstructed root equals R</a:t>
            </a:r>
          </a:p>
        </p:txBody>
      </p:sp>
    </p:spTree>
    <p:extLst>
      <p:ext uri="{BB962C8B-B14F-4D97-AF65-F5344CB8AC3E}">
        <p14:creationId xmlns:p14="http://schemas.microsoft.com/office/powerpoint/2010/main" val="841942121"/>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95F8F4-880B-4973-A03F-EED54A091C9D}"/>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Exact costs against fixed-length MD</a:t>
            </a:r>
          </a:p>
        </p:txBody>
      </p:sp>
      <p:sp>
        <p:nvSpPr>
          <p:cNvPr id="2" name="">
            <a:extLst xmlns:a="http://schemas.openxmlformats.org/drawingml/2006/main">
              <a:ext uri="{FF2B5EF4-FFF2-40B4-BE49-F238E27FC236}">
                <a16:creationId xmlns:a16="http://schemas.microsoft.com/office/drawing/2014/main" id="{1A79CE40-2E5D-4DF3-8083-DD3B68AB456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704850" y="1714500"/>
          <a:ext xmlns:a="http://schemas.openxmlformats.org/drawingml/2006/main" cx="10782300" cy="3905250"/>
        </p:xfrm>
        <a:graphic xmlns:a="http://schemas.openxmlformats.org/drawingml/2006/main">
          <a:graphicData uri="http://schemas.openxmlformats.org/drawingml/2006/table">
            <a:tbl>
              <a:tblPr/>
              <a:tblGrid>
                <a:gridCol w="4857750"/>
                <a:gridCol w="2962275"/>
                <a:gridCol w="2962275"/>
              </a:tblGrid>
              <a:tr h="650875">
                <a:tc>
                  <a:txBody>
                    <a:bodyPr/>
                    <a:lstStyle/>
                    <a:p>
                      <a:r>
                        <a:rPr sz="2025" b="1">
                          <a:solidFill>
                            <a:srgbClr val="FFFFFF"/>
                          </a:solidFill>
                          <a:latin typeface="Helvetica Neue"/>
                          <a:ea typeface="Helvetica Neue"/>
                          <a:cs typeface="Helvetica Neue"/>
                        </a:rPr>
                        <a:t>Quantity</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T8 leaves</a:t>
                      </a:r>
                    </a:p>
                  </a:txBody>
                  <a:tcPr marL="91440" marR="91440" marT="45720" marB="45720">
                    <a:solidFill>
                      <a:srgbClr val="152D3A"/>
                    </a:solidFill>
                  </a:tcPr>
                </a:tc>
              </a:tr>
              <a:tr h="650875">
                <a:tc>
                  <a:txBody>
                    <a:bodyPr/>
                    <a:lstStyle/>
                    <a:p>
                      <a:r>
                        <a:rPr sz="2025"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5N − 1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4N − 1</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Verify one record</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Replace a whole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Authentication path</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Disclosed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C11C6B-31EA-4B40-B4EA-65B7D49DAC6C}"/>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Same records and upper tree. The baseline uses four leaf calls.</a:t>
            </a:r>
          </a:p>
        </p:txBody>
      </p:sp>
    </p:spTree>
    <p:extLst>
      <p:ext uri="{BB962C8B-B14F-4D97-AF65-F5344CB8AC3E}">
        <p14:creationId xmlns:p14="http://schemas.microsoft.com/office/powerpoint/2010/main" val="1508072528"/>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010935-7C2B-4E0A-B497-B817E82F488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One million records: one million saved calls</a:t>
            </a:r>
          </a:p>
        </p:txBody>
      </p:sp>
      <p:sp>
        <p:nvSpPr>
          <p:cNvPr id="2" name="">
            <a:extLst xmlns:a="http://schemas.openxmlformats.org/drawingml/2006/main">
              <a:ext uri="{FF2B5EF4-FFF2-40B4-BE49-F238E27FC236}">
                <a16:creationId xmlns:a16="http://schemas.microsoft.com/office/drawing/2014/main" id="{4F80B3BB-C20E-4324-8002-3CB971400C7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07</a:t>
            </a:r>
          </a:p>
        </p:txBody>
      </p:sp>
      <p:graphicFrame>
        <p:nvGraphicFramePr>
          <p:cNvPr id="8" name=""/>
          <p:cNvGraphicFramePr/>
          <p:nvPr/>
        </p:nvGraphicFramePr>
        <p:xfrm>
          <a:off xmlns:a="http://schemas.openxmlformats.org/drawingml/2006/main" x="704850" y="1857375"/>
          <a:ext xmlns:a="http://schemas.openxmlformats.org/drawingml/2006/main" cx="10782300" cy="2667000"/>
        </p:xfrm>
        <a:graphic xmlns:a="http://schemas.openxmlformats.org/drawingml/2006/main">
          <a:graphicData uri="http://schemas.openxmlformats.org/drawingml/2006/table">
            <a:tbl>
              <a:tblPr/>
              <a:tblGrid>
                <a:gridCol w="4857750"/>
                <a:gridCol w="2962275"/>
                <a:gridCol w="2962275"/>
              </a:tblGrid>
              <a:tr h="666750">
                <a:tc>
                  <a:txBody>
                    <a:bodyPr/>
                    <a:lstStyle/>
                    <a:p>
                      <a:r>
                        <a:rPr sz="2100" b="1">
                          <a:solidFill>
                            <a:srgbClr val="FFFFFF"/>
                          </a:solidFill>
                          <a:latin typeface="Helvetica Neue"/>
                          <a:ea typeface="Helvetica Neue"/>
                          <a:cs typeface="Helvetica Neue"/>
                        </a:rPr>
                        <a:t>N = 2²⁰, n = 256</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T8 leaves</a:t>
                      </a:r>
                    </a:p>
                  </a:txBody>
                  <a:tcPr marL="91440" marR="91440" marT="45720" marB="45720">
                    <a:solidFill>
                      <a:srgbClr val="152D3A"/>
                    </a:solidFill>
                  </a:tcPr>
                </a:tc>
              </a:tr>
              <a:tr h="666750">
                <a:tc>
                  <a:txBody>
                    <a:bodyPr/>
                    <a:lstStyle/>
                    <a:p>
                      <a:r>
                        <a:rPr sz="2100"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5,242,879</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4,194,303</a:t>
                      </a:r>
                    </a:p>
                  </a:txBody>
                  <a:tcPr marL="91440" marR="91440" marT="45720" marB="45720">
                    <a:solidFill>
                      <a:srgbClr val="FFFFFF"/>
                    </a:solidFill>
                  </a:tcPr>
                </a:tc>
              </a:tr>
              <a:tr h="666750">
                <a:tc>
                  <a:txBody>
                    <a:bodyPr/>
                    <a:lstStyle/>
                    <a:p>
                      <a:r>
                        <a:rPr sz="2100" b="0">
                          <a:solidFill>
                            <a:srgbClr val="152D3A"/>
                          </a:solidFill>
                          <a:latin typeface="Helvetica Neue"/>
                          <a:ea typeface="Helvetica Neue"/>
                          <a:cs typeface="Helvetica Neue"/>
                        </a:rPr>
                        <a:t>Verify calls</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24</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23</a:t>
                      </a:r>
                    </a:p>
                  </a:txBody>
                  <a:tcPr marL="91440" marR="91440" marT="45720" marB="45720">
                    <a:solidFill>
                      <a:srgbClr val="EEF4F3"/>
                    </a:solidFill>
                  </a:tcPr>
                </a:tc>
              </a:tr>
              <a:tr h="666750">
                <a:tc>
                  <a:txBody>
                    <a:bodyPr/>
                    <a:lstStyle/>
                    <a:p>
                      <a:r>
                        <a:rPr sz="2100" b="0">
                          <a:solidFill>
                            <a:srgbClr val="152D3A"/>
                          </a:solidFill>
                          <a:latin typeface="Helvetica Neue"/>
                          <a:ea typeface="Helvetica Neue"/>
                          <a:cs typeface="Helvetica Neue"/>
                        </a:rPr>
                        <a:t>Record + path</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5D1730B-84FF-4CDB-BD0C-D649AE6219CD}"/>
              </a:ext>
            </a:extLst>
          </p:cNvPr>
          <p:cNvSpPr>
            <a:spLocks xmlns:a="http://schemas.openxmlformats.org/drawingml/2006/main" noGrp="1"/>
          </p:cNvSpPr>
          <p:nvPr/>
        </p:nvSpPr>
        <p:spPr>
          <a:xfrm xmlns:a="http://schemas.openxmlformats.org/drawingml/2006/main">
            <a:off x="723900" y="50006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2"/>
                </a:solidFill>
                <a:latin typeface="Helvetica Neue"/>
                <a:ea typeface="Helvetica Neue"/>
                <a:cs typeface="Helvetica Neue"/>
              </a:defRPr>
            </a:pPr>
            <a:r>
              <a:rPr sz="3300" b="1">
                <a:solidFill>
                  <a:srgbClr val="087F82"/>
                </a:solidFill>
                <a:latin typeface="Helvetica Neue"/>
                <a:ea typeface="Helvetica Neue"/>
                <a:cs typeface="Helvetica Neue"/>
              </a:rPr>
              <a:t>≈20% fewer commitment calls</a:t>
            </a:r>
          </a:p>
        </p:txBody>
      </p:sp>
      <p:sp>
        <p:nvSpPr>
          <p:cNvPr id="5" name="">
            <a:extLst xmlns:a="http://schemas.openxmlformats.org/drawingml/2006/main">
              <a:ext uri="{FF2B5EF4-FFF2-40B4-BE49-F238E27FC236}">
                <a16:creationId xmlns:a16="http://schemas.microsoft.com/office/drawing/2014/main" id="{EEEE4351-4B52-4C71-BFB4-A52B6C98A15F}"/>
              </a:ext>
            </a:extLst>
          </p:cNvPr>
          <p:cNvSpPr>
            <a:spLocks xmlns:a="http://schemas.openxmlformats.org/drawingml/2006/main" noGrp="1"/>
          </p:cNvSpPr>
          <p:nvPr/>
        </p:nvSpPr>
        <p:spPr>
          <a:xfrm xmlns:a="http://schemas.openxmlformats.org/drawingml/2006/main">
            <a:off x="723900" y="57816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Verification saves 4.17% of calls at this depth</a:t>
            </a:r>
          </a:p>
        </p:txBody>
      </p:sp>
    </p:spTree>
    <p:extLst>
      <p:ext uri="{BB962C8B-B14F-4D97-AF65-F5344CB8AC3E}">
        <p14:creationId xmlns:p14="http://schemas.microsoft.com/office/powerpoint/2010/main" val="1079582550"/>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E2D459-0C01-435D-AF36-6D3B5AA38782}"/>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Position binding reduces to a collision</a:t>
            </a:r>
          </a:p>
        </p:txBody>
      </p:sp>
      <p:sp>
        <p:nvSpPr>
          <p:cNvPr id="2" name="">
            <a:extLst xmlns:a="http://schemas.openxmlformats.org/drawingml/2006/main">
              <a:ext uri="{FF2B5EF4-FFF2-40B4-BE49-F238E27FC236}">
                <a16:creationId xmlns:a16="http://schemas.microsoft.com/office/drawing/2014/main" id="{E619E567-58B7-4CA4-AF3E-46683F9562DE}"/>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89B239C-117B-4E34-AB37-27E977CBC51E}"/>
              </a:ext>
            </a:extLst>
          </p:cNvPr>
          <p:cNvSpPr>
            <a:spLocks xmlns:a="http://schemas.openxmlformats.org/drawingml/2006/main" noGrp="1"/>
          </p:cNvSpPr>
          <p:nvPr/>
        </p:nvSpPr>
        <p:spPr>
          <a:xfrm xmlns:a="http://schemas.openxmlformats.org/drawingml/2006/main">
            <a:off x="704850" y="1809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Two accepted openings: same R and i, different Z and Z′</a:t>
            </a:r>
          </a:p>
        </p:txBody>
      </p:sp>
      <p:sp>
        <p:nvSpPr>
          <p:cNvPr id="4" name="">
            <a:extLst xmlns:a="http://schemas.openxmlformats.org/drawingml/2006/main">
              <a:ext uri="{FF2B5EF4-FFF2-40B4-BE49-F238E27FC236}">
                <a16:creationId xmlns:a16="http://schemas.microsoft.com/office/drawing/2014/main" id="{ACB88413-254B-4626-84FF-F33C358EF687}"/>
              </a:ext>
            </a:extLst>
          </p:cNvPr>
          <p:cNvSpPr>
            <a:spLocks xmlns:a="http://schemas.openxmlformats.org/drawingml/2006/main" noGrp="1"/>
          </p:cNvSpPr>
          <p:nvPr/>
        </p:nvSpPr>
        <p:spPr>
          <a:xfrm xmlns:a="http://schemas.openxmlformats.org/drawingml/2006/main">
            <a:off x="704850" y="27241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Equal leaf digests give a complete-input leaf collision</a:t>
            </a:r>
          </a:p>
        </p:txBody>
      </p:sp>
      <p:sp>
        <p:nvSpPr>
          <p:cNvPr id="5" name="">
            <a:extLst xmlns:a="http://schemas.openxmlformats.org/drawingml/2006/main">
              <a:ext uri="{FF2B5EF4-FFF2-40B4-BE49-F238E27FC236}">
                <a16:creationId xmlns:a16="http://schemas.microsoft.com/office/drawing/2014/main" id="{F1029B9A-FCDF-4F59-83D1-B54D36D7C4F0}"/>
              </a:ext>
            </a:extLst>
          </p:cNvPr>
          <p:cNvSpPr>
            <a:spLocks xmlns:a="http://schemas.openxmlformats.org/drawingml/2006/main" noGrp="1"/>
          </p:cNvSpPr>
          <p:nvPr/>
        </p:nvSpPr>
        <p:spPr>
          <a:xfrm xmlns:a="http://schemas.openxmlformats.org/drawingml/2006/main">
            <a:off x="704850" y="36385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Different leaf digests must merge at some node</a:t>
            </a:r>
          </a:p>
        </p:txBody>
      </p:sp>
      <p:sp>
        <p:nvSpPr>
          <p:cNvPr id="6" name="">
            <a:extLst xmlns:a="http://schemas.openxmlformats.org/drawingml/2006/main">
              <a:ext uri="{FF2B5EF4-FFF2-40B4-BE49-F238E27FC236}">
                <a16:creationId xmlns:a16="http://schemas.microsoft.com/office/drawing/2014/main" id="{DDD828C4-A5B2-484B-8289-05D70FDB8CB8}"/>
              </a:ext>
            </a:extLst>
          </p:cNvPr>
          <p:cNvSpPr>
            <a:spLocks xmlns:a="http://schemas.openxmlformats.org/drawingml/2006/main" noGrp="1"/>
          </p:cNvSpPr>
          <p:nvPr/>
        </p:nvSpPr>
        <p:spPr>
          <a:xfrm xmlns:a="http://schemas.openxmlformats.org/drawingml/2006/main">
            <a:off x="704850" y="45529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first merge gives a collision in the ordered node hash</a:t>
            </a:r>
          </a:p>
        </p:txBody>
      </p:sp>
      <p:sp>
        <p:nvSpPr>
          <p:cNvPr id="7" name="">
            <a:extLst xmlns:a="http://schemas.openxmlformats.org/drawingml/2006/main">
              <a:ext uri="{FF2B5EF4-FFF2-40B4-BE49-F238E27FC236}">
                <a16:creationId xmlns:a16="http://schemas.microsoft.com/office/drawing/2014/main" id="{A8550B75-72D7-4A81-8E63-0D676F8BEDCE}"/>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reduction evaluates only the two supplied paths</a:t>
            </a:r>
          </a:p>
        </p:txBody>
      </p:sp>
    </p:spTree>
    <p:extLst>
      <p:ext uri="{BB962C8B-B14F-4D97-AF65-F5344CB8AC3E}">
        <p14:creationId xmlns:p14="http://schemas.microsoft.com/office/powerpoint/2010/main" val="637007992"/>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4B186C-4CC9-4EE0-89DA-7A34C1847E68}"/>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Binding in the independent ideal-function model</a:t>
            </a:r>
          </a:p>
        </p:txBody>
      </p:sp>
      <p:sp>
        <p:nvSpPr>
          <p:cNvPr id="2" name="">
            <a:extLst xmlns:a="http://schemas.openxmlformats.org/drawingml/2006/main">
              <a:ext uri="{FF2B5EF4-FFF2-40B4-BE49-F238E27FC236}">
                <a16:creationId xmlns:a16="http://schemas.microsoft.com/office/drawing/2014/main" id="{86C21B2C-4F9B-4F74-B67B-D9BB3A391F9B}"/>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A33679E1-B9D7-463F-A6D2-FDAB22530259}"/>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Q = q + 2(d + 3)</a:t>
            </a:r>
          </a:p>
        </p:txBody>
      </p:sp>
      <p:sp>
        <p:nvSpPr>
          <p:cNvPr id="4" name="">
            <a:extLst xmlns:a="http://schemas.openxmlformats.org/drawingml/2006/main">
              <a:ext uri="{FF2B5EF4-FFF2-40B4-BE49-F238E27FC236}">
                <a16:creationId xmlns:a16="http://schemas.microsoft.com/office/drawing/2014/main" id="{D2C7D70F-DE5F-4217-9571-8EEDE49D4A04}"/>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Advbind(q) ≤ min{1, (γₙ(Q) + ½) Q² / 2ⁿ}</a:t>
            </a:r>
          </a:p>
        </p:txBody>
      </p:sp>
      <p:sp>
        <p:nvSpPr>
          <p:cNvPr id="5" name="">
            <a:extLst xmlns:a="http://schemas.openxmlformats.org/drawingml/2006/main">
              <a:ext uri="{FF2B5EF4-FFF2-40B4-BE49-F238E27FC236}">
                <a16:creationId xmlns:a16="http://schemas.microsoft.com/office/drawing/2014/main" id="{5748753C-EE99-44FF-AA7A-CD44AB4A9EF5}"/>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Complete-input collision security suffices for these openings</a:t>
            </a:r>
          </a:p>
        </p:txBody>
      </p:sp>
      <p:sp>
        <p:nvSpPr>
          <p:cNvPr id="6" name="">
            <a:extLst xmlns:a="http://schemas.openxmlformats.org/drawingml/2006/main">
              <a:ext uri="{FF2B5EF4-FFF2-40B4-BE49-F238E27FC236}">
                <a16:creationId xmlns:a16="http://schemas.microsoft.com/office/drawing/2014/main" id="{BF2C3D6D-F898-4CCE-AFC5-77B5C37F9093}"/>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Concrete compressor CR alone does not prove T8 CR</a:t>
            </a:r>
          </a:p>
        </p:txBody>
      </p:sp>
      <p:sp>
        <p:nvSpPr>
          <p:cNvPr id="7" name="">
            <a:extLst xmlns:a="http://schemas.openxmlformats.org/drawingml/2006/main">
              <a:ext uri="{FF2B5EF4-FFF2-40B4-BE49-F238E27FC236}">
                <a16:creationId xmlns:a16="http://schemas.microsoft.com/office/drawing/2014/main" id="{B57776C2-9A68-4E1D-87F0-C997D4CC1787}"/>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refined bound applies for Q ≤ 2ⁿᐟ²</a:t>
            </a:r>
          </a:p>
        </p:txBody>
      </p:sp>
    </p:spTree>
    <p:extLst>
      <p:ext uri="{BB962C8B-B14F-4D97-AF65-F5344CB8AC3E}">
        <p14:creationId xmlns:p14="http://schemas.microsoft.com/office/powerpoint/2010/main" val="969937848"/>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04F076-4371-42B0-9657-1DB8508F282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sharper T5 and T8 collision bound</a:t>
            </a:r>
          </a:p>
        </p:txBody>
      </p:sp>
      <p:sp>
        <p:nvSpPr>
          <p:cNvPr id="2" name="">
            <a:extLst xmlns:a="http://schemas.openxmlformats.org/drawingml/2006/main">
              <a:ext uri="{FF2B5EF4-FFF2-40B4-BE49-F238E27FC236}">
                <a16:creationId xmlns:a16="http://schemas.microsoft.com/office/drawing/2014/main" id="{697DE8EC-9BC5-4E52-9C7B-71C7FAEE40EE}"/>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10</a:t>
            </a:r>
          </a:p>
        </p:txBody>
      </p:sp>
      <p:graphicFrame>
        <p:nvGraphicFramePr>
          <p:cNvPr id="8" name=""/>
          <p:cNvGraphicFramePr/>
          <p:nvPr/>
        </p:nvGraphicFramePr>
        <p:xfrm>
          <a:off xmlns:a="http://schemas.openxmlformats.org/drawingml/2006/main" x="704850" y="1809750"/>
          <a:ext xmlns:a="http://schemas.openxmlformats.org/drawingml/2006/main" cx="10782300" cy="2667000"/>
        </p:xfrm>
        <a:graphic xmlns:a="http://schemas.openxmlformats.org/drawingml/2006/main">
          <a:graphicData uri="http://schemas.openxmlformats.org/drawingml/2006/table">
            <a:tbl>
              <a:tblPr/>
              <a:tblGrid>
                <a:gridCol w="4762500"/>
                <a:gridCol w="2762250"/>
                <a:gridCol w="3257550"/>
              </a:tblGrid>
              <a:tr h="666750">
                <a:tc>
                  <a:txBody>
                    <a:bodyPr/>
                    <a:lstStyle/>
                    <a:p>
                      <a:r>
                        <a:rPr sz="2175" b="1">
                          <a:solidFill>
                            <a:srgbClr val="FFFFFF"/>
                          </a:solidFill>
                          <a:latin typeface="Helvetica Neue"/>
                          <a:ea typeface="Helvetica Neue"/>
                          <a:cs typeface="Helvetica Neue"/>
                        </a:rPr>
                        <a:t>Query budget</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Cutoff K★</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Coefficient γ₂₅₆</a:t>
                      </a:r>
                    </a:p>
                  </a:txBody>
                  <a:tcPr marL="91440" marR="91440" marT="45720" marB="45720">
                    <a:solidFill>
                      <a:srgbClr val="152D3A"/>
                    </a:solidFill>
                  </a:tcPr>
                </a:tc>
              </a:tr>
              <a:tr h="666750">
                <a:tc>
                  <a:txBody>
                    <a:bodyPr/>
                    <a:lstStyle/>
                    <a:p>
                      <a:r>
                        <a:rPr sz="2175" b="0">
                          <a:solidFill>
                            <a:srgbClr val="152D3A"/>
                          </a:solidFill>
                          <a:latin typeface="Helvetica Neue"/>
                          <a:ea typeface="Helvetica Neue"/>
                          <a:cs typeface="Helvetica Neue"/>
                        </a:rPr>
                        <a:t>Q ≤ 2⁶⁴</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3.07</a:t>
                      </a:r>
                    </a:p>
                  </a:txBody>
                  <a:tcPr marL="91440" marR="91440" marT="45720" marB="45720">
                    <a:solidFill>
                      <a:srgbClr val="FFFFFF"/>
                    </a:solidFill>
                  </a:tcPr>
                </a:tc>
              </a:tr>
              <a:tr h="666750">
                <a:tc>
                  <a:txBody>
                    <a:bodyPr/>
                    <a:lstStyle/>
                    <a:p>
                      <a:r>
                        <a:rPr sz="2175" b="0">
                          <a:solidFill>
                            <a:srgbClr val="152D3A"/>
                          </a:solidFill>
                          <a:latin typeface="Helvetica Neue"/>
                          <a:ea typeface="Helvetica Neue"/>
                          <a:cs typeface="Helvetica Neue"/>
                        </a:rPr>
                        <a:t>Q ≤ 2⁹⁶</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4</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9.01</a:t>
                      </a:r>
                    </a:p>
                  </a:txBody>
                  <a:tcPr marL="91440" marR="91440" marT="45720" marB="45720">
                    <a:solidFill>
                      <a:srgbClr val="EEF4F3"/>
                    </a:solidFill>
                  </a:tcPr>
                </a:tc>
              </a:tr>
              <a:tr h="666750">
                <a:tc>
                  <a:txBody>
                    <a:bodyPr/>
                    <a:lstStyle/>
                    <a:p>
                      <a:r>
                        <a:rPr sz="2175" b="0">
                          <a:solidFill>
                            <a:srgbClr val="152D3A"/>
                          </a:solidFill>
                          <a:latin typeface="Helvetica Neue"/>
                          <a:ea typeface="Helvetica Neue"/>
                          <a:cs typeface="Helvetica Neue"/>
                        </a:rPr>
                        <a:t>Q ≤ 2¹²⁰</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13</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86.10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0C9A42F-F3AB-4594-994F-82ED9BD3D300}"/>
              </a:ext>
            </a:extLst>
          </p:cNvPr>
          <p:cNvSpPr>
            <a:spLocks xmlns:a="http://schemas.openxmlformats.org/drawingml/2006/main" noGrp="1"/>
          </p:cNvSpPr>
          <p:nvPr/>
        </p:nvSpPr>
        <p:spPr>
          <a:xfrm xmlns:a="http://schemas.openxmlformats.org/drawingml/2006/main">
            <a:off x="723900" y="487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2"/>
                </a:solidFill>
                <a:latin typeface="Helvetica Neue"/>
                <a:ea typeface="Helvetica Neue"/>
                <a:cs typeface="Helvetica Neue"/>
              </a:defRPr>
            </a:pPr>
            <a:r>
              <a:rPr sz="2700" b="1">
                <a:solidFill>
                  <a:srgbClr val="087F82"/>
                </a:solidFill>
                <a:latin typeface="Helvetica Neue"/>
                <a:ea typeface="Helvetica Neue"/>
                <a:cs typeface="Helvetica Neue"/>
              </a:rPr>
              <a:t>Pr[collision] ≤ min{1, γ₂₅₆(Q) Q² / 2²⁵⁶}</a:t>
            </a:r>
          </a:p>
        </p:txBody>
      </p:sp>
      <p:sp>
        <p:nvSpPr>
          <p:cNvPr id="5" name="">
            <a:extLst xmlns:a="http://schemas.openxmlformats.org/drawingml/2006/main">
              <a:ext uri="{FF2B5EF4-FFF2-40B4-BE49-F238E27FC236}">
                <a16:creationId xmlns:a16="http://schemas.microsoft.com/office/drawing/2014/main" id="{FF0624B9-8D82-4A58-A94B-47A33CF78814}"/>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Original coefficient: 65,546. Refined coefficients round upward.</a:t>
            </a:r>
          </a:p>
        </p:txBody>
      </p:sp>
    </p:spTree>
    <p:extLst>
      <p:ext uri="{BB962C8B-B14F-4D97-AF65-F5344CB8AC3E}">
        <p14:creationId xmlns:p14="http://schemas.microsoft.com/office/powerpoint/2010/main" val="148742441"/>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E83594-A059-48F7-8B96-599A5D0D96D8}"/>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Multiproofs preserve the same boundary digests</a:t>
            </a:r>
          </a:p>
        </p:txBody>
      </p:sp>
      <p:sp>
        <p:nvSpPr>
          <p:cNvPr id="2" name="">
            <a:extLst xmlns:a="http://schemas.openxmlformats.org/drawingml/2006/main">
              <a:ext uri="{FF2B5EF4-FFF2-40B4-BE49-F238E27FC236}">
                <a16:creationId xmlns:a16="http://schemas.microsoft.com/office/drawing/2014/main" id="{527B5226-F749-4A1D-8349-D9E6FDD1E9B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9493117E-E992-42B9-AA17-BD6E72B8DAB5}"/>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4u + K(S)    versus    3u + K(S)</a:t>
            </a:r>
          </a:p>
        </p:txBody>
      </p:sp>
      <p:sp>
        <p:nvSpPr>
          <p:cNvPr id="4" name="">
            <a:extLst xmlns:a="http://schemas.openxmlformats.org/drawingml/2006/main">
              <a:ext uri="{FF2B5EF4-FFF2-40B4-BE49-F238E27FC236}">
                <a16:creationId xmlns:a16="http://schemas.microsoft.com/office/drawing/2014/main" id="{C6957A50-9DBD-436E-9976-FA8B88C7BA3A}"/>
              </a:ext>
            </a:extLst>
          </p:cNvPr>
          <p:cNvSpPr>
            <a:spLocks xmlns:a="http://schemas.openxmlformats.org/drawingml/2006/main" noGrp="1"/>
          </p:cNvSpPr>
          <p:nvPr/>
        </p:nvSpPr>
        <p:spPr>
          <a:xfrm xmlns:a="http://schemas.openxmlformats.org/drawingml/2006/main">
            <a:off x="704850" y="32861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Authentication data: B(S)n bits in both schemes</a:t>
            </a:r>
          </a:p>
        </p:txBody>
      </p:sp>
      <p:sp>
        <p:nvSpPr>
          <p:cNvPr id="5" name="">
            <a:extLst xmlns:a="http://schemas.openxmlformats.org/drawingml/2006/main">
              <a:ext uri="{FF2B5EF4-FFF2-40B4-BE49-F238E27FC236}">
                <a16:creationId xmlns:a16="http://schemas.microsoft.com/office/drawing/2014/main" id="{94941552-310B-498F-897C-417B40D58971}"/>
              </a:ext>
            </a:extLst>
          </p:cNvPr>
          <p:cNvSpPr>
            <a:spLocks xmlns:a="http://schemas.openxmlformats.org/drawingml/2006/main" noGrp="1"/>
          </p:cNvSpPr>
          <p:nvPr/>
        </p:nvSpPr>
        <p:spPr>
          <a:xfrm xmlns:a="http://schemas.openxmlformats.org/drawingml/2006/main">
            <a:off x="704850" y="41338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Saving: u calls for u distinct computed records</a:t>
            </a:r>
          </a:p>
        </p:txBody>
      </p:sp>
      <p:sp>
        <p:nvSpPr>
          <p:cNvPr id="6" name="">
            <a:extLst xmlns:a="http://schemas.openxmlformats.org/drawingml/2006/main">
              <a:ext uri="{FF2B5EF4-FFF2-40B4-BE49-F238E27FC236}">
                <a16:creationId xmlns:a16="http://schemas.microsoft.com/office/drawing/2014/main" id="{4F709723-3C39-4F23-BD6C-399C6183F97D}"/>
              </a:ext>
            </a:extLst>
          </p:cNvPr>
          <p:cNvSpPr>
            <a:spLocks xmlns:a="http://schemas.openxmlformats.org/drawingml/2006/main" noGrp="1"/>
          </p:cNvSpPr>
          <p:nvPr/>
        </p:nvSpPr>
        <p:spPr>
          <a:xfrm xmlns:a="http://schemas.openxmlformats.org/drawingml/2006/main">
            <a:off x="704850" y="4981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Two siblings: d + 8 calls become d + 6</a:t>
            </a:r>
          </a:p>
        </p:txBody>
      </p:sp>
    </p:spTree>
    <p:extLst>
      <p:ext uri="{BB962C8B-B14F-4D97-AF65-F5344CB8AC3E}">
        <p14:creationId xmlns:p14="http://schemas.microsoft.com/office/powerpoint/2010/main" val="1252817398"/>
      </p:ext>
    </p:extLst>
  </p:cSld>
</p:sld>
</file>

<file path=ppt/slides/slide1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DD7464-701E-48F6-A8FF-988967D09A70}"/>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Call counts and elapsed time differ</a:t>
            </a:r>
          </a:p>
        </p:txBody>
      </p:sp>
      <p:sp>
        <p:nvSpPr>
          <p:cNvPr id="2" name="">
            <a:extLst xmlns:a="http://schemas.openxmlformats.org/drawingml/2006/main">
              <a:ext uri="{FF2B5EF4-FFF2-40B4-BE49-F238E27FC236}">
                <a16:creationId xmlns:a16="http://schemas.microsoft.com/office/drawing/2014/main" id="{CBF8AA53-0645-4E97-BEBB-DE4030CEF5D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6D731192-15C0-4280-90A0-9DCFE2D21CA2}"/>
              </a:ext>
            </a:extLst>
          </p:cNvPr>
          <p:cNvSpPr>
            <a:spLocks xmlns:a="http://schemas.openxmlformats.org/drawingml/2006/main" noGrp="1"/>
          </p:cNvSpPr>
          <p:nvPr/>
        </p:nvSpPr>
        <p:spPr>
          <a:xfrm xmlns:a="http://schemas.openxmlformats.org/drawingml/2006/main">
            <a:off x="723900" y="2143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87F82"/>
                </a:solidFill>
                <a:latin typeface="Helvetica Neue"/>
                <a:ea typeface="Helvetica Neue"/>
                <a:cs typeface="Helvetica Neue"/>
              </a:defRPr>
            </a:pPr>
            <a:r>
              <a:rPr sz="3825" b="1">
                <a:solidFill>
                  <a:srgbClr val="087F82"/>
                </a:solidFill>
                <a:latin typeface="Helvetica Neue"/>
                <a:ea typeface="Helvetica Neue"/>
                <a:cs typeface="Helvetica Neue"/>
              </a:rPr>
              <a:t>Saved work ≈ N(τ − 3ξ)</a:t>
            </a:r>
          </a:p>
        </p:txBody>
      </p:sp>
      <p:sp>
        <p:nvSpPr>
          <p:cNvPr id="4" name="">
            <a:extLst xmlns:a="http://schemas.openxmlformats.org/drawingml/2006/main">
              <a:ext uri="{FF2B5EF4-FFF2-40B4-BE49-F238E27FC236}">
                <a16:creationId xmlns:a16="http://schemas.microsoft.com/office/drawing/2014/main" id="{2F4D1470-0C8D-463E-9ECC-6430D46B71A3}"/>
              </a:ext>
            </a:extLst>
          </p:cNvPr>
          <p:cNvSpPr>
            <a:spLocks xmlns:a="http://schemas.openxmlformats.org/drawingml/2006/main" noGrp="1"/>
          </p:cNvSpPr>
          <p:nvPr/>
        </p:nvSpPr>
        <p:spPr>
          <a:xfrm xmlns:a="http://schemas.openxmlformats.org/drawingml/2006/main">
            <a:off x="704850" y="35718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Packing and domain separation can erase the call saving</a:t>
            </a:r>
          </a:p>
        </p:txBody>
      </p:sp>
      <p:sp>
        <p:nvSpPr>
          <p:cNvPr id="5" name="">
            <a:extLst xmlns:a="http://schemas.openxmlformats.org/drawingml/2006/main">
              <a:ext uri="{FF2B5EF4-FFF2-40B4-BE49-F238E27FC236}">
                <a16:creationId xmlns:a16="http://schemas.microsoft.com/office/drawing/2014/main" id="{691ACAA3-D847-473A-A94C-350F28AF63D2}"/>
              </a:ext>
            </a:extLst>
          </p:cNvPr>
          <p:cNvSpPr>
            <a:spLocks xmlns:a="http://schemas.openxmlformats.org/drawingml/2006/main" noGrp="1"/>
          </p:cNvSpPr>
          <p:nvPr/>
        </p:nvSpPr>
        <p:spPr>
          <a:xfrm xmlns:a="http://schemas.openxmlformats.org/drawingml/2006/main">
            <a:off x="704850" y="44196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Independent work can improve the execution schedule</a:t>
            </a:r>
          </a:p>
        </p:txBody>
      </p:sp>
      <p:sp>
        <p:nvSpPr>
          <p:cNvPr id="6" name="">
            <a:extLst xmlns:a="http://schemas.openxmlformats.org/drawingml/2006/main">
              <a:ext uri="{FF2B5EF4-FFF2-40B4-BE49-F238E27FC236}">
                <a16:creationId xmlns:a16="http://schemas.microsoft.com/office/drawing/2014/main" id="{88427D75-AF40-4DC1-8A6C-7E01EFBDB0AF}"/>
              </a:ext>
            </a:extLst>
          </p:cNvPr>
          <p:cNvSpPr>
            <a:spLocks xmlns:a="http://schemas.openxmlformats.org/drawingml/2006/main" noGrp="1"/>
          </p:cNvSpPr>
          <p:nvPr/>
        </p:nvSpPr>
        <p:spPr>
          <a:xfrm xmlns:a="http://schemas.openxmlformats.org/drawingml/2006/main">
            <a:off x="704850" y="52673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Memory traffic and SIMD occupancy affect running time</a:t>
            </a:r>
          </a:p>
        </p:txBody>
      </p:sp>
    </p:spTree>
    <p:extLst>
      <p:ext uri="{BB962C8B-B14F-4D97-AF65-F5344CB8AC3E}">
        <p14:creationId xmlns:p14="http://schemas.microsoft.com/office/powerpoint/2010/main" val="808639716"/>
      </p:ext>
    </p:extLst>
  </p:cSld>
</p:sld>
</file>

<file path=ppt/slides/slide1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3DA984-4C6F-4198-9088-7755830C85EE}"/>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direct native translation can lose</a:t>
            </a:r>
          </a:p>
        </p:txBody>
      </p:sp>
      <p:sp>
        <p:nvSpPr>
          <p:cNvPr id="2" name="">
            <a:extLst xmlns:a="http://schemas.openxmlformats.org/drawingml/2006/main">
              <a:ext uri="{FF2B5EF4-FFF2-40B4-BE49-F238E27FC236}">
                <a16:creationId xmlns:a16="http://schemas.microsoft.com/office/drawing/2014/main" id="{0809B1B2-8B10-4024-86D8-EBB43A2CDC8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13</a:t>
            </a:r>
          </a:p>
        </p:txBody>
      </p:sp>
      <p:graphicFrame>
        <p:nvGraphicFramePr>
          <p:cNvPr id="8" name=""/>
          <p:cNvGraphicFramePr/>
          <p:nvPr/>
        </p:nvGraphicFramePr>
        <p:xfrm>
          <a:off xmlns:a="http://schemas.openxmlformats.org/drawingml/2006/main" x="704850" y="2000250"/>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75" b="1">
                          <a:solidFill>
                            <a:srgbClr val="FFFFFF"/>
                          </a:solidFill>
                          <a:latin typeface="Helvetica Neue"/>
                          <a:ea typeface="Helvetica Neue"/>
                          <a:cs typeface="Helvetica Neue"/>
                        </a:rPr>
                        <a:t>256-byte leaf</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Standard native hash</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Tagged T8</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 compressions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5</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6</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SHA3-256 permutations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3</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F308C6E6-19FD-45D8-A83E-67CCE0EF1412}"/>
              </a:ext>
            </a:extLst>
          </p:cNvPr>
          <p:cNvSpPr>
            <a:spLocks xmlns:a="http://schemas.openxmlformats.org/drawingml/2006/main" noGrp="1"/>
          </p:cNvSpPr>
          <p:nvPr/>
        </p:nvSpPr>
        <p:spPr>
          <a:xfrm xmlns:a="http://schemas.openxmlformats.org/drawingml/2006/main">
            <a:off x="7239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2"/>
                </a:solidFill>
                <a:latin typeface="Helvetica Neue"/>
                <a:ea typeface="Helvetica Neue"/>
                <a:cs typeface="Helvetica Neue"/>
              </a:defRPr>
            </a:pPr>
            <a:r>
              <a:rPr sz="2925" b="1">
                <a:solidFill>
                  <a:srgbClr val="087F82"/>
                </a:solidFill>
                <a:latin typeface="Helvetica Neue"/>
                <a:ea typeface="Helvetica Neue"/>
                <a:cs typeface="Helvetica Neue"/>
              </a:rPr>
              <a:t>The native interface determines the useful rate</a:t>
            </a:r>
          </a:p>
        </p:txBody>
      </p:sp>
      <p:sp>
        <p:nvSpPr>
          <p:cNvPr id="5" name="">
            <a:extLst xmlns:a="http://schemas.openxmlformats.org/drawingml/2006/main">
              <a:ext uri="{FF2B5EF4-FFF2-40B4-BE49-F238E27FC236}">
                <a16:creationId xmlns:a16="http://schemas.microsoft.com/office/drawing/2014/main" id="{7675BBD1-5935-4911-A3B0-0E2B490875F5}"/>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These are leaf counts, with padding included</a:t>
            </a:r>
          </a:p>
        </p:txBody>
      </p:sp>
    </p:spTree>
    <p:extLst>
      <p:ext uri="{BB962C8B-B14F-4D97-AF65-F5344CB8AC3E}">
        <p14:creationId xmlns:p14="http://schemas.microsoft.com/office/powerpoint/2010/main" val="1969037598"/>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3C9235-355C-4049-B46D-A603BCD32CB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Concrete research adapters use more input</a:t>
            </a:r>
          </a:p>
        </p:txBody>
      </p:sp>
      <p:sp>
        <p:nvSpPr>
          <p:cNvPr id="2" name="">
            <a:extLst xmlns:a="http://schemas.openxmlformats.org/drawingml/2006/main">
              <a:ext uri="{FF2B5EF4-FFF2-40B4-BE49-F238E27FC236}">
                <a16:creationId xmlns:a16="http://schemas.microsoft.com/office/drawing/2014/main" id="{846B37D1-8B5D-497A-AA17-229AACDCC726}"/>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14</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571750"/>
                <a:gridCol w="3352800"/>
              </a:tblGrid>
              <a:tr h="762000">
                <a:tc>
                  <a:txBody>
                    <a:bodyPr/>
                    <a:lstStyle/>
                    <a:p>
                      <a:r>
                        <a:rPr sz="2175" b="1">
                          <a:solidFill>
                            <a:srgbClr val="FFFFFF"/>
                          </a:solidFill>
                          <a:latin typeface="Helvetica Neue"/>
                          <a:ea typeface="Helvetica Neue"/>
                          <a:cs typeface="Helvetica Neue"/>
                        </a:rPr>
                        <a:t>Raw compression adapter</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Payload per call</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Role encoding</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95 bytes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 CV byte</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BLAKE3</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103 bytes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High counter byte</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E96F1F9B-4A67-4450-BB2B-86A9128FF00A}"/>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Disjoint role domains implement the intended separation</a:t>
            </a:r>
          </a:p>
        </p:txBody>
      </p:sp>
      <p:sp>
        <p:nvSpPr>
          <p:cNvPr id="5" name="">
            <a:extLst xmlns:a="http://schemas.openxmlformats.org/drawingml/2006/main">
              <a:ext uri="{FF2B5EF4-FFF2-40B4-BE49-F238E27FC236}">
                <a16:creationId xmlns:a16="http://schemas.microsoft.com/office/drawing/2014/main" id="{02CF35EC-2AC6-4844-8DB7-94C2F894EEF9}"/>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raw interfaces still require cryptographic assumptions</a:t>
            </a:r>
          </a:p>
        </p:txBody>
      </p:sp>
    </p:spTree>
    <p:extLst>
      <p:ext uri="{BB962C8B-B14F-4D97-AF65-F5344CB8AC3E}">
        <p14:creationId xmlns:p14="http://schemas.microsoft.com/office/powerpoint/2010/main" val="1690440514"/>
      </p:ext>
    </p:extLst>
  </p:cSld>
</p:sld>
</file>

<file path=ppt/slides/slide1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018624-561B-4042-8F84-95663FE2727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Wider gadgets and better schedules</a:t>
            </a:r>
          </a:p>
        </p:txBody>
      </p:sp>
      <p:sp>
        <p:nvSpPr>
          <p:cNvPr id="2" name="">
            <a:extLst xmlns:a="http://schemas.openxmlformats.org/drawingml/2006/main">
              <a:ext uri="{FF2B5EF4-FFF2-40B4-BE49-F238E27FC236}">
                <a16:creationId xmlns:a16="http://schemas.microsoft.com/office/drawing/2014/main" id="{ABA693DB-0343-49A6-AA89-71A7DB7ED0DB}"/>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857750"/>
                <a:gridCol w="1809750"/>
                <a:gridCol w="1809750"/>
                <a:gridCol w="2305050"/>
              </a:tblGrid>
              <a:tr h="635000">
                <a:tc>
                  <a:txBody>
                    <a:bodyPr/>
                    <a:lstStyle/>
                    <a:p>
                      <a:r>
                        <a:rPr sz="1950" b="1">
                          <a:solidFill>
                            <a:srgbClr val="FFFFFF"/>
                          </a:solidFill>
                          <a:latin typeface="Helvetica Neue"/>
                          <a:ea typeface="Helvetica Neue"/>
                          <a:cs typeface="Helvetica Neue"/>
                        </a:rPr>
                        <a:t>64 KiB leaf mode</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Standard</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Variant</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Fewer calls</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SHA-256 ABR-wide</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1,025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854</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16.7%</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774</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28.8%</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803</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26.1%</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Keccak SHAKE128</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391</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18.9%</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Keccak 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395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9868F7C-C370-473B-B8CA-1872ECF232C8}"/>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Modes have different security guarantees. Count useful native calls.</a:t>
            </a:r>
          </a:p>
        </p:txBody>
      </p:sp>
    </p:spTree>
    <p:extLst>
      <p:ext uri="{BB962C8B-B14F-4D97-AF65-F5344CB8AC3E}">
        <p14:creationId xmlns:p14="http://schemas.microsoft.com/office/powerpoint/2010/main" val="4673315"/>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57C291-BB72-4267-A749-10EFE6C959E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Measured speedups depend on the backend</a:t>
            </a:r>
          </a:p>
        </p:txBody>
      </p:sp>
      <p:sp>
        <p:nvSpPr>
          <p:cNvPr id="2" name="">
            <a:extLst xmlns:a="http://schemas.openxmlformats.org/drawingml/2006/main">
              <a:ext uri="{FF2B5EF4-FFF2-40B4-BE49-F238E27FC236}">
                <a16:creationId xmlns:a16="http://schemas.microsoft.com/office/drawing/2014/main" id="{85BDA491-76EF-4458-9E8F-2AA3BDC474CB}"/>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16</a:t>
            </a:r>
          </a:p>
        </p:txBody>
      </p:sp>
      <p:graphicFrame>
        <p:nvGraphicFramePr>
          <p:cNvPr id="7" name="Chart"/>
          <p:cNvGraphicFramePr/>
          <p:nvPr/>
        </p:nvGraphicFramePr>
        <p:xfrm>
          <a:off xmlns:a="http://schemas.openxmlformats.org/drawingml/2006/main" x="666750" y="1762125"/>
          <a:ext xmlns:a="http://schemas.openxmlformats.org/drawingml/2006/main" cx="10858500" cy="3619500"/>
        </p:xfrm>
        <a:graphic xmlns:a="http://schemas.openxmlformats.org/drawingml/2006/main">
          <a:graphicData uri="http://schemas.openxmlformats.org/drawingml/2006/chart">
            <c:chart xmlns:r="http://schemas.openxmlformats.org/officeDocument/2006/relationships" xmlns:c="http://schemas.openxmlformats.org/drawingml/2006/chart" r:id="Re1dae66a410347b1"/>
          </a:graphicData>
        </a:graphic>
      </p:graphicFrame>
      <p:sp>
        <p:nvSpPr>
          <p:cNvPr id="4" name="">
            <a:extLst xmlns:a="http://schemas.openxmlformats.org/drawingml/2006/main">
              <a:ext uri="{FF2B5EF4-FFF2-40B4-BE49-F238E27FC236}">
                <a16:creationId xmlns:a16="http://schemas.microsoft.com/office/drawing/2014/main" id="{6520B667-844F-461E-8F74-6B202F606D2C}"/>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M4 Max, four workers, 256 MiB total, 64 KiB leaves. Historical baseline.</a:t>
            </a:r>
          </a:p>
        </p:txBody>
      </p:sp>
    </p:spTree>
    <p:extLst>
      <p:ext uri="{BB962C8B-B14F-4D97-AF65-F5344CB8AC3E}">
        <p14:creationId xmlns:p14="http://schemas.microsoft.com/office/powerpoint/2010/main" val="1615884689"/>
      </p:ext>
    </p:extLst>
  </p:cSld>
</p:sld>
</file>

<file path=ppt/slides/slide1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98534B-D3C5-47E4-9A4E-01135FDF1E8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faster baseline changes the comparison</a:t>
            </a:r>
          </a:p>
        </p:txBody>
      </p:sp>
      <p:sp>
        <p:nvSpPr>
          <p:cNvPr id="2" name="">
            <a:extLst xmlns:a="http://schemas.openxmlformats.org/drawingml/2006/main">
              <a:ext uri="{FF2B5EF4-FFF2-40B4-BE49-F238E27FC236}">
                <a16:creationId xmlns:a16="http://schemas.microsoft.com/office/drawing/2014/main" id="{758C4D27-4D91-44AE-B6B2-F410E21FEC1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17</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00" b="1">
                          <a:solidFill>
                            <a:srgbClr val="FFFFFF"/>
                          </a:solidFill>
                          <a:latin typeface="Helvetica Neue"/>
                          <a:ea typeface="Helvetica Neue"/>
                          <a:cs typeface="Helvetica Neue"/>
                        </a:rPr>
                        <a:t>M3 control, 64 KiB leaves</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Before baseline update</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After update</a:t>
                      </a:r>
                    </a:p>
                  </a:txBody>
                  <a:tcPr marL="91440" marR="91440" marT="45720" marB="45720">
                    <a:solidFill>
                      <a:srgbClr val="152D3A"/>
                    </a:solidFill>
                  </a:tcPr>
                </a:tc>
              </a:tr>
              <a:tr h="762000">
                <a:tc>
                  <a:txBody>
                    <a:bodyPr/>
                    <a:lstStyle/>
                    <a:p>
                      <a:r>
                        <a:rPr sz="2100" b="0">
                          <a:solidFill>
                            <a:srgbClr val="152D3A"/>
                          </a:solidFill>
                          <a:latin typeface="Helvetica Neue"/>
                          <a:ea typeface="Helvetica Neue"/>
                          <a:cs typeface="Helvetica Neue"/>
                        </a:rPr>
                        <a:t>ABR-wide commit speedup</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1.67×</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1.15×</a:t>
                      </a:r>
                    </a:p>
                  </a:txBody>
                  <a:tcPr marL="91440" marR="91440" marT="45720" marB="45720">
                    <a:solidFill>
                      <a:srgbClr val="FFFFFF"/>
                    </a:solidFill>
                  </a:tcPr>
                </a:tc>
              </a:tr>
              <a:tr h="762000">
                <a:tc>
                  <a:txBody>
                    <a:bodyPr/>
                    <a:lstStyle/>
                    <a:p>
                      <a:r>
                        <a:rPr sz="2100" b="0">
                          <a:solidFill>
                            <a:srgbClr val="152D3A"/>
                          </a:solidFill>
                          <a:latin typeface="Helvetica Neue"/>
                          <a:ea typeface="Helvetica Neue"/>
                          <a:cs typeface="Helvetica Neue"/>
                        </a:rPr>
                        <a:t>ABR-wide verify speedup</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98130525-2D68-4392-9241-D6FAF7340581}"/>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Compare modes in the same executable and on the same hardware</a:t>
            </a:r>
          </a:p>
        </p:txBody>
      </p:sp>
      <p:sp>
        <p:nvSpPr>
          <p:cNvPr id="5" name="">
            <a:extLst xmlns:a="http://schemas.openxmlformats.org/drawingml/2006/main">
              <a:ext uri="{FF2B5EF4-FFF2-40B4-BE49-F238E27FC236}">
                <a16:creationId xmlns:a16="http://schemas.microsoft.com/office/drawing/2014/main" id="{7E9CEF5D-DF6C-4672-8610-AAC524C2F882}"/>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Width-dependent overhead can make a variant slower</a:t>
            </a:r>
          </a:p>
        </p:txBody>
      </p:sp>
    </p:spTree>
    <p:extLst>
      <p:ext uri="{BB962C8B-B14F-4D97-AF65-F5344CB8AC3E}">
        <p14:creationId xmlns:p14="http://schemas.microsoft.com/office/powerpoint/2010/main" val="1458339186"/>
      </p:ext>
    </p:extLst>
  </p:cSld>
</p:sld>
</file>

<file path=ppt/slides/slide1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441A41-2945-4360-93AB-69D6F70FBD3F}"/>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concrete modes have distinct security status</a:t>
            </a:r>
          </a:p>
        </p:txBody>
      </p:sp>
      <p:sp>
        <p:nvSpPr>
          <p:cNvPr id="2" name="">
            <a:extLst xmlns:a="http://schemas.openxmlformats.org/drawingml/2006/main">
              <a:ext uri="{FF2B5EF4-FFF2-40B4-BE49-F238E27FC236}">
                <a16:creationId xmlns:a16="http://schemas.microsoft.com/office/drawing/2014/main" id="{698A7CF5-5095-4184-BFA7-AC150EAB113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095750"/>
                <a:gridCol w="6686550"/>
              </a:tblGrid>
              <a:tr h="635000">
                <a:tc>
                  <a:txBody>
                    <a:bodyPr/>
                    <a:lstStyle/>
                    <a:p>
                      <a:r>
                        <a:rPr sz="1950" b="1">
                          <a:solidFill>
                            <a:srgbClr val="FFFFFF"/>
                          </a:solidFill>
                          <a:latin typeface="Helvetica Neue"/>
                          <a:ea typeface="Helvetica Neue"/>
                          <a:cs typeface="Helvetica Neue"/>
                        </a:rPr>
                        <a:t>Construction</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Security basis or remaining issue</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Abstract T8</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Independent ideal role functions</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Raw T / ABR adapters</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Concrete ideal-behavior assumptions</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Widened ABR</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Provisional reduction sketch, formal review pending</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SHAKE128, 32-byte output</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128-bit classical preimage target</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Ideal-permutation analysis, stated length range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B4C037-8B36-4D7A-9519-4A00895E27C3}"/>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Complete-record binding alone does not supply every SNARK property</a:t>
            </a:r>
          </a:p>
        </p:txBody>
      </p:sp>
    </p:spTree>
    <p:extLst>
      <p:ext uri="{BB962C8B-B14F-4D97-AF65-F5344CB8AC3E}">
        <p14:creationId xmlns:p14="http://schemas.microsoft.com/office/powerpoint/2010/main" val="816989451"/>
      </p:ext>
    </p:extLst>
  </p:cSld>
</p:sld>
</file>

<file path=ppt/slides/slide1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A9F779-CFB4-43BB-8305-EC04FD807A50}"/>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Impact on Merkle-based succinct arguments</a:t>
            </a:r>
          </a:p>
        </p:txBody>
      </p:sp>
      <p:sp>
        <p:nvSpPr>
          <p:cNvPr id="2" name="">
            <a:extLst xmlns:a="http://schemas.openxmlformats.org/drawingml/2006/main">
              <a:ext uri="{FF2B5EF4-FFF2-40B4-BE49-F238E27FC236}">
                <a16:creationId xmlns:a16="http://schemas.microsoft.com/office/drawing/2014/main" id="{B55F5750-A056-460E-9EEA-CB5FC75B17FF}"/>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AB6FBBD2-E5AF-4F4D-BAAD-9F24EA542CA8}"/>
              </a:ext>
            </a:extLst>
          </p:cNvPr>
          <p:cNvSpPr>
            <a:spLocks xmlns:a="http://schemas.openxmlformats.org/drawingml/2006/main" noGrp="1"/>
          </p:cNvSpPr>
          <p:nvPr/>
        </p:nvSpPr>
        <p:spPr>
          <a:xfrm xmlns:a="http://schemas.openxmlformats.org/drawingml/2006/main">
            <a:off x="723900" y="19050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Δprover = Σⱼ Nⱼ       Δverifier = Σⱼ uⱼ</a:t>
            </a:r>
          </a:p>
        </p:txBody>
      </p:sp>
      <p:sp>
        <p:nvSpPr>
          <p:cNvPr id="4" name="">
            <a:extLst xmlns:a="http://schemas.openxmlformats.org/drawingml/2006/main">
              <a:ext uri="{FF2B5EF4-FFF2-40B4-BE49-F238E27FC236}">
                <a16:creationId xmlns:a16="http://schemas.microsoft.com/office/drawing/2014/main" id="{A1EB355D-0416-4A81-BDB2-7DA42764477A}"/>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Tnew / Told = 1 − αβ</a:t>
            </a:r>
          </a:p>
        </p:txBody>
      </p:sp>
      <p:sp>
        <p:nvSpPr>
          <p:cNvPr id="5" name="">
            <a:extLst xmlns:a="http://schemas.openxmlformats.org/drawingml/2006/main">
              <a:ext uri="{FF2B5EF4-FFF2-40B4-BE49-F238E27FC236}">
                <a16:creationId xmlns:a16="http://schemas.microsoft.com/office/drawing/2014/main" id="{75CC1B45-35C1-40D1-B5A5-7AF583EF8546}"/>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Illustration: α = 40%, β = 20% gives 8% less total time</a:t>
            </a:r>
          </a:p>
        </p:txBody>
      </p:sp>
      <p:sp>
        <p:nvSpPr>
          <p:cNvPr id="6" name="">
            <a:extLst xmlns:a="http://schemas.openxmlformats.org/drawingml/2006/main">
              <a:ext uri="{FF2B5EF4-FFF2-40B4-BE49-F238E27FC236}">
                <a16:creationId xmlns:a16="http://schemas.microsoft.com/office/drawing/2014/main" id="{64CCE3C5-812D-4CCE-9E72-1760C2D7C6C6}"/>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New roots require new Fiat–Shamir challenges</a:t>
            </a:r>
          </a:p>
        </p:txBody>
      </p:sp>
      <p:sp>
        <p:nvSpPr>
          <p:cNvPr id="7" name="">
            <a:extLst xmlns:a="http://schemas.openxmlformats.org/drawingml/2006/main">
              <a:ext uri="{FF2B5EF4-FFF2-40B4-BE49-F238E27FC236}">
                <a16:creationId xmlns:a16="http://schemas.microsoft.com/office/drawing/2014/main" id="{6A464A14-B318-4C09-B6D2-7C867B1F3CA6}"/>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No end-to-end SNARK speedup follows from call counts alone</a:t>
            </a:r>
          </a:p>
        </p:txBody>
      </p:sp>
    </p:spTree>
    <p:extLst>
      <p:ext uri="{BB962C8B-B14F-4D97-AF65-F5344CB8AC3E}">
        <p14:creationId xmlns:p14="http://schemas.microsoft.com/office/powerpoint/2010/main" val="1237754206"/>
      </p:ext>
    </p:extLst>
  </p:cSld>
</p:sld>
</file>

<file path=ppt/slides/slide20.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F22532-F8CA-4725-A806-714F10FAA551}"/>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Cheaper complete-record hashing, same paths</a:t>
            </a:r>
          </a:p>
        </p:txBody>
      </p:sp>
      <p:sp>
        <p:nvSpPr>
          <p:cNvPr id="2" name="">
            <a:extLst xmlns:a="http://schemas.openxmlformats.org/drawingml/2006/main">
              <a:ext uri="{FF2B5EF4-FFF2-40B4-BE49-F238E27FC236}">
                <a16:creationId xmlns:a16="http://schemas.microsoft.com/office/drawing/2014/main" id="{D7297CDA-1B80-42E2-AB2D-B09DDE05536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1C384DA2-C271-45E9-9B66-AA21BF9F8FB3}"/>
              </a:ext>
            </a:extLst>
          </p:cNvPr>
          <p:cNvSpPr>
            <a:spLocks xmlns:a="http://schemas.openxmlformats.org/drawingml/2006/main" noGrp="1"/>
          </p:cNvSpPr>
          <p:nvPr/>
        </p:nvSpPr>
        <p:spPr>
          <a:xfrm xmlns:a="http://schemas.openxmlformats.org/drawingml/2006/main">
            <a:off x="704850" y="21907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One fewer abstract call per record</a:t>
            </a:r>
          </a:p>
        </p:txBody>
      </p:sp>
      <p:sp>
        <p:nvSpPr>
          <p:cNvPr id="4" name="">
            <a:extLst xmlns:a="http://schemas.openxmlformats.org/drawingml/2006/main">
              <a:ext uri="{FF2B5EF4-FFF2-40B4-BE49-F238E27FC236}">
                <a16:creationId xmlns:a16="http://schemas.microsoft.com/office/drawing/2014/main" id="{D396FF14-D976-46E8-B0F5-DB5501A88DE0}"/>
              </a:ext>
            </a:extLst>
          </p:cNvPr>
          <p:cNvSpPr>
            <a:spLocks xmlns:a="http://schemas.openxmlformats.org/drawingml/2006/main" noGrp="1"/>
          </p:cNvSpPr>
          <p:nvPr/>
        </p:nvSpPr>
        <p:spPr>
          <a:xfrm xmlns:a="http://schemas.openxmlformats.org/drawingml/2006/main">
            <a:off x="704850" y="33147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The complete-input collision argument gives position binding</a:t>
            </a:r>
          </a:p>
        </p:txBody>
      </p:sp>
      <p:sp>
        <p:nvSpPr>
          <p:cNvPr id="5" name="">
            <a:extLst xmlns:a="http://schemas.openxmlformats.org/drawingml/2006/main">
              <a:ext uri="{FF2B5EF4-FFF2-40B4-BE49-F238E27FC236}">
                <a16:creationId xmlns:a16="http://schemas.microsoft.com/office/drawing/2014/main" id="{0C6CE33A-E57D-4074-9A48-ADE496061890}"/>
              </a:ext>
            </a:extLst>
          </p:cNvPr>
          <p:cNvSpPr>
            <a:spLocks xmlns:a="http://schemas.openxmlformats.org/drawingml/2006/main" noGrp="1"/>
          </p:cNvSpPr>
          <p:nvPr/>
        </p:nvSpPr>
        <p:spPr>
          <a:xfrm xmlns:a="http://schemas.openxmlformats.org/drawingml/2006/main">
            <a:off x="704850" y="44386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Concrete speedups require a measured, optimized comparator</a:t>
            </a:r>
          </a:p>
        </p:txBody>
      </p:sp>
      <p:sp>
        <p:nvSpPr>
          <p:cNvPr id="6" name="">
            <a:extLst xmlns:a="http://schemas.openxmlformats.org/drawingml/2006/main">
              <a:ext uri="{FF2B5EF4-FFF2-40B4-BE49-F238E27FC236}">
                <a16:creationId xmlns:a16="http://schemas.microsoft.com/office/drawing/2014/main" id="{7F035620-40B3-4219-BB1C-CF4F1F1F3D15}"/>
              </a:ext>
            </a:extLst>
          </p:cNvPr>
          <p:cNvSpPr>
            <a:spLocks xmlns:a="http://schemas.openxmlformats.org/drawingml/2006/main" noGrp="1"/>
          </p:cNvSpPr>
          <p:nvPr/>
        </p:nvSpPr>
        <p:spPr>
          <a:xfrm xmlns:a="http://schemas.openxmlformats.org/drawingml/2006/main">
            <a:off x="704850" y="57816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1C8C8"/>
                </a:solidFill>
                <a:latin typeface="Helvetica Neue"/>
                <a:ea typeface="Helvetica Neue"/>
                <a:cs typeface="Helvetica Neue"/>
              </a:defRPr>
            </a:pPr>
            <a:r>
              <a:rPr sz="2175" b="0">
                <a:solidFill>
                  <a:srgbClr val="91C8C8"/>
                </a:solidFill>
                <a:latin typeface="Helvetica Neue"/>
                <a:ea typeface="Helvetica Neue"/>
                <a:cs typeface="Helvetica Neue"/>
              </a:rPr>
              <a:t>Questions</a:t>
            </a:r>
          </a:p>
        </p:txBody>
      </p:sp>
    </p:spTree>
    <p:extLst>
      <p:ext uri="{BB962C8B-B14F-4D97-AF65-F5344CB8AC3E}">
        <p14:creationId xmlns:p14="http://schemas.microsoft.com/office/powerpoint/2010/main" val="634571449"/>
      </p:ext>
    </p:extLst>
  </p:cSld>
</p:sld>
</file>

<file path=ppt/slides/slide2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3F0AF6-51FA-49A4-AF14-81BAE4FFCA27}"/>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the optimized cutoff</a:t>
            </a:r>
          </a:p>
        </p:txBody>
      </p:sp>
      <p:sp>
        <p:nvSpPr>
          <p:cNvPr id="2" name="">
            <a:extLst xmlns:a="http://schemas.openxmlformats.org/drawingml/2006/main">
              <a:ext uri="{FF2B5EF4-FFF2-40B4-BE49-F238E27FC236}">
                <a16:creationId xmlns:a16="http://schemas.microsoft.com/office/drawing/2014/main" id="{3730415C-23EE-442C-B4C4-A939B2D82B4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A3D3A22C-BB5F-4ECA-B1C7-E54581BB0EEC}"/>
              </a:ext>
            </a:extLst>
          </p:cNvPr>
          <p:cNvSpPr>
            <a:spLocks xmlns:a="http://schemas.openxmlformats.org/drawingml/2006/main" noGrp="1"/>
          </p:cNvSpPr>
          <p:nvPr/>
        </p:nvSpPr>
        <p:spPr>
          <a:xfrm xmlns:a="http://schemas.openxmlformats.org/drawingml/2006/main">
            <a:off x="723900" y="1762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ρ = Q² / 2ⁿ</a:t>
            </a:r>
          </a:p>
        </p:txBody>
      </p:sp>
      <p:sp>
        <p:nvSpPr>
          <p:cNvPr id="4" name="">
            <a:extLst xmlns:a="http://schemas.openxmlformats.org/drawingml/2006/main">
              <a:ext uri="{FF2B5EF4-FFF2-40B4-BE49-F238E27FC236}">
                <a16:creationId xmlns:a16="http://schemas.microsoft.com/office/drawing/2014/main" id="{99DDEA6F-008D-4797-8647-0232A12E1FCF}"/>
              </a:ext>
            </a:extLst>
          </p:cNvPr>
          <p:cNvSpPr>
            <a:spLocks xmlns:a="http://schemas.openxmlformats.org/drawingml/2006/main" noGrp="1"/>
          </p:cNvSpPr>
          <p:nvPr/>
        </p:nvSpPr>
        <p:spPr>
          <a:xfrm xmlns:a="http://schemas.openxmlformats.org/drawingml/2006/main">
            <a:off x="723900" y="2952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Bₙ(Q,K) = (1 + K²/2)ρ + Kρ²/48</a:t>
            </a:r>
          </a:p>
        </p:txBody>
      </p:sp>
      <p:sp>
        <p:nvSpPr>
          <p:cNvPr id="5" name="">
            <a:extLst xmlns:a="http://schemas.openxmlformats.org/drawingml/2006/main">
              <a:ext uri="{FF2B5EF4-FFF2-40B4-BE49-F238E27FC236}">
                <a16:creationId xmlns:a16="http://schemas.microsoft.com/office/drawing/2014/main" id="{E36931E0-06D0-4B9F-A275-BCB3AD9A2D14}"/>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                 + [3·2ⁿ/(K+1)!] (ρ/2)ᴷ⁺¹</a:t>
            </a:r>
          </a:p>
        </p:txBody>
      </p:sp>
      <p:sp>
        <p:nvSpPr>
          <p:cNvPr id="6" name="">
            <a:extLst xmlns:a="http://schemas.openxmlformats.org/drawingml/2006/main">
              <a:ext uri="{FF2B5EF4-FFF2-40B4-BE49-F238E27FC236}">
                <a16:creationId xmlns:a16="http://schemas.microsoft.com/office/drawing/2014/main" id="{5C977258-1745-40B0-91F9-F69804B79F3B}"/>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Choose K to minimize Bₙ(Q,K). Applies to T5 and T8.</a:t>
            </a:r>
          </a:p>
        </p:txBody>
      </p:sp>
    </p:spTree>
    <p:extLst>
      <p:ext uri="{BB962C8B-B14F-4D97-AF65-F5344CB8AC3E}">
        <p14:creationId xmlns:p14="http://schemas.microsoft.com/office/powerpoint/2010/main" val="826566074"/>
      </p:ext>
    </p:extLst>
  </p:cSld>
</p:sld>
</file>

<file path=ppt/slides/slide2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CAE21E-F3D7-4182-A03F-BEB484485F8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gadget capacities and hybrid tails</a:t>
            </a:r>
          </a:p>
        </p:txBody>
      </p:sp>
      <p:sp>
        <p:nvSpPr>
          <p:cNvPr id="2" name="">
            <a:extLst xmlns:a="http://schemas.openxmlformats.org/drawingml/2006/main">
              <a:ext uri="{FF2B5EF4-FFF2-40B4-BE49-F238E27FC236}">
                <a16:creationId xmlns:a16="http://schemas.microsoft.com/office/drawing/2014/main" id="{AC1ECAB2-09C1-49BC-9B55-6681CCA6F7F8}"/>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22</a:t>
            </a:r>
          </a:p>
        </p:txBody>
      </p:sp>
      <p:graphicFrame>
        <p:nvGraphicFramePr>
          <p:cNvPr id="7" name=""/>
          <p:cNvGraphicFramePr/>
          <p:nvPr/>
        </p:nvGraphicFramePr>
        <p:xfrm>
          <a:off xmlns:a="http://schemas.openxmlformats.org/drawingml/2006/main" x="704850" y="1857375"/>
          <a:ext xmlns:a="http://schemas.openxmlformats.org/drawingml/2006/main" cx="10782300" cy="3095625"/>
        </p:xfrm>
        <a:graphic xmlns:a="http://schemas.openxmlformats.org/drawingml/2006/main">
          <a:graphicData uri="http://schemas.openxmlformats.org/drawingml/2006/table">
            <a:tbl>
              <a:tblPr/>
              <a:tblGrid>
                <a:gridCol w="4762500"/>
                <a:gridCol w="1809750"/>
                <a:gridCol w="2400300"/>
                <a:gridCol w="1809750"/>
              </a:tblGrid>
              <a:tr h="619125">
                <a:tc>
                  <a:txBody>
                    <a:bodyPr/>
                    <a:lstStyle/>
                    <a:p>
                      <a:r>
                        <a:rPr sz="2025" b="1">
                          <a:solidFill>
                            <a:srgbClr val="FFFFFF"/>
                          </a:solidFill>
                          <a:latin typeface="Helvetica Neue"/>
                          <a:ea typeface="Helvetica Neue"/>
                          <a:cs typeface="Helvetica Neue"/>
                        </a:rPr>
                        <a:t>Adapter</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First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Later fresh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Calls</a:t>
                      </a:r>
                    </a:p>
                  </a:txBody>
                  <a:tcPr marL="91440" marR="91440" marT="45720" marB="45720">
                    <a:solidFill>
                      <a:srgbClr val="152D3A"/>
                    </a:solidFill>
                  </a:tcPr>
                </a:tc>
              </a:tr>
              <a:tr h="619125">
                <a:tc>
                  <a:txBody>
                    <a:bodyPr/>
                    <a:lstStyle/>
                    <a:p>
                      <a:r>
                        <a:rPr sz="2025" b="0">
                          <a:solidFill>
                            <a:srgbClr val="152D3A"/>
                          </a:solidFill>
                          <a:latin typeface="Helvetica Neue"/>
                          <a:ea typeface="Helvetica Neue"/>
                          <a:cs typeface="Helvetica Neue"/>
                        </a:rPr>
                        <a:t>SHA-256 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221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SHA-256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569</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537</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r h="619125">
                <a:tc>
                  <a:txBody>
                    <a:bodyPr/>
                    <a:lstStyle/>
                    <a:p>
                      <a:r>
                        <a:rPr sz="2025"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245</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625</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593</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EB2E7974-4DCF-4F14-A2BE-FA8EBAAA9195}"/>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planner combines full gadgets with restricted MD tails</a:t>
            </a:r>
          </a:p>
        </p:txBody>
      </p:sp>
    </p:spTree>
    <p:extLst>
      <p:ext uri="{BB962C8B-B14F-4D97-AF65-F5344CB8AC3E}">
        <p14:creationId xmlns:p14="http://schemas.microsoft.com/office/powerpoint/2010/main" val="2118849236"/>
      </p:ext>
    </p:extLst>
  </p:cSld>
</p:sld>
</file>

<file path=ppt/slides/slide2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94FEE7-A8D4-4288-9884-AEDEB30732F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opening verification inside a circuit</a:t>
            </a:r>
          </a:p>
        </p:txBody>
      </p:sp>
      <p:sp>
        <p:nvSpPr>
          <p:cNvPr id="2" name="">
            <a:extLst xmlns:a="http://schemas.openxmlformats.org/drawingml/2006/main">
              <a:ext uri="{FF2B5EF4-FFF2-40B4-BE49-F238E27FC236}">
                <a16:creationId xmlns:a16="http://schemas.microsoft.com/office/drawing/2014/main" id="{18A2FE83-95C1-4117-8E37-F1E6D2590454}"/>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CA109E3C-ED1B-4DFD-A716-F1309D226D5F}"/>
              </a:ext>
            </a:extLst>
          </p:cNvPr>
          <p:cNvSpPr>
            <a:spLocks xmlns:a="http://schemas.openxmlformats.org/drawingml/2006/main" noGrp="1"/>
          </p:cNvSpPr>
          <p:nvPr/>
        </p:nvSpPr>
        <p:spPr>
          <a:xfrm xmlns:a="http://schemas.openxmlformats.org/drawingml/2006/main">
            <a:off x="723900" y="2238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82"/>
                </a:solidFill>
                <a:latin typeface="Helvetica Neue"/>
                <a:ea typeface="Helvetica Neue"/>
                <a:cs typeface="Helvetica Neue"/>
              </a:defRPr>
            </a:pPr>
            <a:r>
              <a:rPr sz="3600" b="1">
                <a:solidFill>
                  <a:srgbClr val="087F82"/>
                </a:solidFill>
                <a:latin typeface="Helvetica Neue"/>
                <a:ea typeface="Helvetica Neue"/>
                <a:cs typeface="Helvetica Neue"/>
              </a:rPr>
              <a:t>Leaf-circuit saving = g − 3g⊕</a:t>
            </a:r>
          </a:p>
        </p:txBody>
      </p:sp>
      <p:sp>
        <p:nvSpPr>
          <p:cNvPr id="4" name="">
            <a:extLst xmlns:a="http://schemas.openxmlformats.org/drawingml/2006/main">
              <a:ext uri="{FF2B5EF4-FFF2-40B4-BE49-F238E27FC236}">
                <a16:creationId xmlns:a16="http://schemas.microsoft.com/office/drawing/2014/main" id="{A41E7E91-639E-4BF4-9B8C-F451E7E8B220}"/>
              </a:ext>
            </a:extLst>
          </p:cNvPr>
          <p:cNvSpPr>
            <a:spLocks xmlns:a="http://schemas.openxmlformats.org/drawingml/2006/main" noGrp="1"/>
          </p:cNvSpPr>
          <p:nvPr/>
        </p:nvSpPr>
        <p:spPr>
          <a:xfrm xmlns:a="http://schemas.openxmlformats.org/drawingml/2006/main">
            <a:off x="704850" y="3762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upper path circuit keeps the same structure</a:t>
            </a:r>
          </a:p>
        </p:txBody>
      </p:sp>
      <p:sp>
        <p:nvSpPr>
          <p:cNvPr id="5" name="">
            <a:extLst xmlns:a="http://schemas.openxmlformats.org/drawingml/2006/main">
              <a:ext uri="{FF2B5EF4-FFF2-40B4-BE49-F238E27FC236}">
                <a16:creationId xmlns:a16="http://schemas.microsoft.com/office/drawing/2014/main" id="{44562C6B-ED17-4BB6-B398-6149E6CA56BE}"/>
              </a:ext>
            </a:extLst>
          </p:cNvPr>
          <p:cNvSpPr>
            <a:spLocks xmlns:a="http://schemas.openxmlformats.org/drawingml/2006/main" noGrp="1"/>
          </p:cNvSpPr>
          <p:nvPr/>
        </p:nvSpPr>
        <p:spPr>
          <a:xfrm xmlns:a="http://schemas.openxmlformats.org/drawingml/2006/main">
            <a:off x="704850" y="4572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Prime-field circuits need actual constraint counts</a:t>
            </a:r>
          </a:p>
        </p:txBody>
      </p:sp>
      <p:sp>
        <p:nvSpPr>
          <p:cNvPr id="6" name="">
            <a:extLst xmlns:a="http://schemas.openxmlformats.org/drawingml/2006/main">
              <a:ext uri="{FF2B5EF4-FFF2-40B4-BE49-F238E27FC236}">
                <a16:creationId xmlns:a16="http://schemas.microsoft.com/office/drawing/2014/main" id="{838E7B77-EDEB-4785-9E60-6B1D8338B6C3}"/>
              </a:ext>
            </a:extLst>
          </p:cNvPr>
          <p:cNvSpPr>
            <a:spLocks xmlns:a="http://schemas.openxmlformats.org/drawingml/2006/main" noGrp="1"/>
          </p:cNvSpPr>
          <p:nvPr/>
        </p:nvSpPr>
        <p:spPr>
          <a:xfrm xmlns:a="http://schemas.openxmlformats.org/drawingml/2006/main">
            <a:off x="704850" y="5381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Field addition changes the construction and its analysis</a:t>
            </a:r>
          </a:p>
        </p:txBody>
      </p:sp>
    </p:spTree>
    <p:extLst>
      <p:ext uri="{BB962C8B-B14F-4D97-AF65-F5344CB8AC3E}">
        <p14:creationId xmlns:p14="http://schemas.microsoft.com/office/powerpoint/2010/main" val="446283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2026-10-01T12:42:27.0180000Z</dcterms:created>
  <dcterms:modified xsi:type="dcterms:W3CDTF">2026-10-01T12:42:27.0180000Z</dcterms:modified>
</coreProperties>
</file>